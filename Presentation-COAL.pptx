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</p:sldIdLst>
  <p:sldSz cx="16256000" cy="9144000"/>
  <p:notesSz cx="9144000" cy="16256000"/>
  <p:embeddedFontLst>
    <p:embeddedFont>
      <p:font typeface="Oranienbaum" panose="02000506080000020003" pitchFamily="34" charset="0"/>
      <p:regular r:id="rId27"/>
    </p:embeddedFont>
    <p:embeddedFont>
      <p:font typeface="Oranienbaum" panose="02000506080000020003" pitchFamily="34" charset="-122"/>
      <p:regular r:id="rId28"/>
    </p:embeddedFont>
    <p:embeddedFont>
      <p:font typeface="Oranienbaum" panose="02000506080000020003" pitchFamily="34" charset="-120"/>
      <p:regular r:id="rId29"/>
    </p:embeddedFont>
    <p:embeddedFont>
      <p:font typeface="Liter" panose="02000503030000020004" pitchFamily="34" charset="0"/>
      <p:regular r:id="rId30"/>
    </p:embeddedFont>
    <p:embeddedFont>
      <p:font typeface="Liter" panose="02000503030000020004" pitchFamily="34" charset="-122"/>
      <p:regular r:id="rId31"/>
    </p:embeddedFont>
    <p:embeddedFont>
      <p:font typeface="Liter" panose="02000503030000020004" pitchFamily="34" charset="-120"/>
      <p:regular r:id="rId32"/>
    </p:embeddedFont>
    <p:embeddedFont>
      <p:font typeface="Calibri" panose="020F0502020204030204" charset="0"/>
      <p:regular r:id="rId33"/>
      <p:bold r:id="rId34"/>
      <p:italic r:id="rId35"/>
      <p:boldItalic r:id="rId3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F5F2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629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6" Type="http://schemas.openxmlformats.org/officeDocument/2006/relationships/font" Target="fonts/font10.fntdata"/><Relationship Id="rId35" Type="http://schemas.openxmlformats.org/officeDocument/2006/relationships/font" Target="fonts/font9.fntdata"/><Relationship Id="rId34" Type="http://schemas.openxmlformats.org/officeDocument/2006/relationships/font" Target="fonts/font8.fntdata"/><Relationship Id="rId33" Type="http://schemas.openxmlformats.org/officeDocument/2006/relationships/font" Target="fonts/font7.fntdata"/><Relationship Id="rId32" Type="http://schemas.openxmlformats.org/officeDocument/2006/relationships/font" Target="fonts/font6.fntdata"/><Relationship Id="rId31" Type="http://schemas.openxmlformats.org/officeDocument/2006/relationships/font" Target="fonts/font5.fntdata"/><Relationship Id="rId30" Type="http://schemas.openxmlformats.org/officeDocument/2006/relationships/font" Target="fonts/font4.fntdata"/><Relationship Id="rId3" Type="http://schemas.openxmlformats.org/officeDocument/2006/relationships/slide" Target="slides/slide1.xml"/><Relationship Id="rId29" Type="http://schemas.openxmlformats.org/officeDocument/2006/relationships/font" Target="fonts/font3.fntdata"/><Relationship Id="rId28" Type="http://schemas.openxmlformats.org/officeDocument/2006/relationships/font" Target="fonts/font2.fntdata"/><Relationship Id="rId27" Type="http://schemas.openxmlformats.org/officeDocument/2006/relationships/font" Target="fonts/font1.fntdata"/><Relationship Id="rId26" Type="http://schemas.openxmlformats.org/officeDocument/2006/relationships/tableStyles" Target="tableStyles.xml"/><Relationship Id="rId25" Type="http://schemas.openxmlformats.org/officeDocument/2006/relationships/viewProps" Target="viewProps.xml"/><Relationship Id="rId24" Type="http://schemas.openxmlformats.org/officeDocument/2006/relationships/presProps" Target="presProps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3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image" Target="../media/image10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3.jpeg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6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5.jpeg"/><Relationship Id="rId1" Type="http://schemas.openxmlformats.org/officeDocument/2006/relationships/image" Target="../media/image14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6.jpe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1A1A1A"/>
            </a:gs>
            <a:gs pos="100000">
              <a:srgbClr val="2A242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2h72ijbqukzmu/mnt/okcomputer/output/24bit-processor/images/word/media/image1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6858000" y="508000"/>
            <a:ext cx="2540000" cy="2540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588000" y="3302000"/>
            <a:ext cx="5080000" cy="0"/>
          </a:xfrm>
          <a:prstGeom prst="straightConnector1">
            <a:avLst/>
          </a:prstGeom>
          <a:noFill/>
          <a:ln w="6350">
            <a:solidFill>
              <a:srgbClr val="C4A87C">
                <a:alpha val="50196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1778000" y="3556000"/>
            <a:ext cx="12700000" cy="1143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5600" b="1" kern="0" spc="400" dirty="0">
                <a:solidFill>
                  <a:srgbClr val="FFFFFF"/>
                </a:solidFill>
                <a:latin typeface="Oranienbaum" panose="02000506080000020003" pitchFamily="34" charset="0"/>
                <a:ea typeface="Oranienbaum" panose="02000506080000020003" pitchFamily="34" charset="-122"/>
                <a:cs typeface="Oranienbaum" panose="02000506080000020003" pitchFamily="34" charset="-120"/>
              </a:rPr>
              <a:t>24-Bit Multi-Mode Processor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3048000" y="4826000"/>
            <a:ext cx="10160000" cy="508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FFFFFF">
                    <a:alpha val="8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CE222 — Computer Organization &amp; Assembly Language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588000" y="5588000"/>
            <a:ext cx="5080000" cy="0"/>
          </a:xfrm>
          <a:prstGeom prst="straightConnector1">
            <a:avLst/>
          </a:prstGeom>
          <a:noFill/>
          <a:ln w="6350">
            <a:solidFill>
              <a:srgbClr val="FFFFFF">
                <a:alpha val="37647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2413000" y="5842000"/>
            <a:ext cx="11430000" cy="1016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ct val="180000"/>
              </a:lnSpc>
            </a:pPr>
            <a:r>
              <a:rPr lang="en-US" sz="1600" dirty="0">
                <a:solidFill>
                  <a:srgbClr val="FFFFFF">
                    <a:alpha val="66667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Muhammad Shariq Usman (2024465)　|　Sohaib Bin Tausif (2024595)</a:t>
            </a:r>
            <a:endParaRPr lang="en-US" sz="1600" dirty="0"/>
          </a:p>
          <a:p>
            <a:pPr algn="ctr">
              <a:lnSpc>
                <a:spcPct val="180000"/>
              </a:lnSpc>
            </a:pPr>
            <a:r>
              <a:rPr lang="en-US" sz="1600" dirty="0">
                <a:solidFill>
                  <a:srgbClr val="FFFFFF">
                    <a:alpha val="66667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Instructor: Prof. Dr. Ghulam Abbas　|　Cyber Security Section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3048000" y="7112000"/>
            <a:ext cx="10160000" cy="444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kern="0" spc="300" dirty="0">
                <a:solidFill>
                  <a:srgbClr val="FFFFFF">
                    <a:alpha val="37647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GHULAM ISHAQ KHAN INSTITUTE OF ENGINEERING SCIENCES AND TECHNOLOGY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762000" y="8636000"/>
            <a:ext cx="14732000" cy="0"/>
          </a:xfrm>
          <a:prstGeom prst="straightConnector1">
            <a:avLst/>
          </a:prstGeom>
          <a:noFill/>
          <a:ln w="6350">
            <a:solidFill>
              <a:srgbClr val="FFFFFF">
                <a:alpha val="18824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EB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1143000"/>
            <a:ext cx="7366000" cy="0"/>
          </a:xfrm>
          <a:prstGeom prst="straightConnector1">
            <a:avLst/>
          </a:prstGeom>
          <a:noFill/>
          <a:ln w="6350">
            <a:solidFill>
              <a:srgbClr val="C4A87C">
                <a:alpha val="37647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62000" y="1524000"/>
            <a:ext cx="7366000" cy="1016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800" dirty="0">
                <a:solidFill>
                  <a:srgbClr val="1A1A1A"/>
                </a:solidFill>
                <a:latin typeface="Oranienbaum" panose="02000506080000020003" pitchFamily="34" charset="0"/>
                <a:ea typeface="Oranienbaum" panose="02000506080000020003" pitchFamily="34" charset="-122"/>
                <a:cs typeface="Oranienbaum" panose="02000506080000020003" pitchFamily="34" charset="-120"/>
              </a:rPr>
              <a:t>INDEX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62000" y="3048000"/>
            <a:ext cx="7112000" cy="635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kern="0" spc="200" dirty="0">
                <a:solidFill>
                  <a:srgbClr val="C4A87C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01 ——</a:t>
            </a:r>
            <a:r>
              <a:rPr lang="en-US" sz="1800" dirty="0">
                <a:solidFill>
                  <a:srgbClr val="1A1A1A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 Architecture Overview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62000" y="3733800"/>
            <a:ext cx="7112000" cy="0"/>
          </a:xfrm>
          <a:prstGeom prst="straightConnector1">
            <a:avLst/>
          </a:prstGeom>
          <a:noFill/>
          <a:ln w="6350">
            <a:solidFill>
              <a:srgbClr val="E8E0D5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62000" y="3835400"/>
            <a:ext cx="7112000" cy="635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kern="0" spc="200" dirty="0">
                <a:solidFill>
                  <a:srgbClr val="C4A87C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02 ——</a:t>
            </a:r>
            <a:r>
              <a:rPr lang="en-US" sz="1800" dirty="0">
                <a:solidFill>
                  <a:srgbClr val="1A1A1A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 Addressing Modes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62000" y="4521200"/>
            <a:ext cx="7112000" cy="0"/>
          </a:xfrm>
          <a:prstGeom prst="straightConnector1">
            <a:avLst/>
          </a:prstGeom>
          <a:noFill/>
          <a:ln w="6350">
            <a:solidFill>
              <a:srgbClr val="E8E0D5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62000" y="4622800"/>
            <a:ext cx="7112000" cy="635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kern="0" spc="200" dirty="0">
                <a:solidFill>
                  <a:srgbClr val="C4A87C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03 ——</a:t>
            </a:r>
            <a:r>
              <a:rPr lang="en-US" sz="1800" dirty="0">
                <a:solidFill>
                  <a:srgbClr val="1A1A1A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 Bus System &amp; ALU Design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62000" y="5308600"/>
            <a:ext cx="7112000" cy="0"/>
          </a:xfrm>
          <a:prstGeom prst="straightConnector1">
            <a:avLst/>
          </a:prstGeom>
          <a:noFill/>
          <a:ln w="6350">
            <a:solidFill>
              <a:srgbClr val="E8E0D5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62000" y="5410200"/>
            <a:ext cx="7112000" cy="635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kern="0" spc="200" dirty="0">
                <a:solidFill>
                  <a:srgbClr val="C4A87C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04 ——</a:t>
            </a:r>
            <a:r>
              <a:rPr lang="en-US" sz="1800" dirty="0">
                <a:solidFill>
                  <a:srgbClr val="1A1A1A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 Control Unit &amp; Timing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62000" y="6096000"/>
            <a:ext cx="7112000" cy="0"/>
          </a:xfrm>
          <a:prstGeom prst="straightConnector1">
            <a:avLst/>
          </a:prstGeom>
          <a:noFill/>
          <a:ln w="6350">
            <a:solidFill>
              <a:srgbClr val="E8E0D5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62000" y="6197600"/>
            <a:ext cx="7112000" cy="635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kern="0" spc="200" dirty="0">
                <a:solidFill>
                  <a:srgbClr val="C4A87C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05 ——</a:t>
            </a:r>
            <a:r>
              <a:rPr lang="en-US" sz="1800" dirty="0">
                <a:solidFill>
                  <a:srgbClr val="1A1A1A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 I/O &amp; System Integration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62000" y="8382000"/>
            <a:ext cx="7366000" cy="0"/>
          </a:xfrm>
          <a:prstGeom prst="straightConnector1">
            <a:avLst/>
          </a:prstGeom>
          <a:noFill/>
          <a:ln w="6350">
            <a:solidFill>
              <a:srgbClr val="E8E0D5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pic>
        <p:nvPicPr>
          <p:cNvPr id="14" name="Image 0" descr="https://kimi-img.moonshot.cn/pub/slides/okc/2h72ijbqukzmu/mnt/okcomputer/output/24bit-processor/images/5_Glowing_Microprocessor_with_Circuit.png"/>
          <p:cNvPicPr>
            <a:picLocks noChangeAspect="1"/>
          </p:cNvPicPr>
          <p:nvPr/>
        </p:nvPicPr>
        <p:blipFill>
          <a:blip r:embed="rId1"/>
          <a:srcRect l="26615" r="26615"/>
          <a:stretch>
            <a:fillRect/>
          </a:stretch>
        </p:blipFill>
        <p:spPr>
          <a:xfrm>
            <a:off x="8636000" y="0"/>
            <a:ext cx="7620000" cy="91440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2h72ijbqukzmu/mnt/okcomputer/output/24bit-processor/images/1_Close_up_of_a_Microprocessor_on_a.png"/>
          <p:cNvPicPr>
            <a:picLocks noChangeAspect="1"/>
          </p:cNvPicPr>
          <p:nvPr/>
        </p:nvPicPr>
        <p:blipFill>
          <a:blip r:embed="rId1"/>
          <a:srcRect t="9821" b="9821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2A2420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762000" y="762000"/>
            <a:ext cx="38100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kern="0" spc="600" dirty="0">
                <a:solidFill>
                  <a:srgbClr val="C4A87C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CHAPTER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762000" y="1219200"/>
            <a:ext cx="2540000" cy="0"/>
          </a:xfrm>
          <a:prstGeom prst="straightConnector1">
            <a:avLst/>
          </a:prstGeom>
          <a:noFill/>
          <a:ln w="6350">
            <a:solidFill>
              <a:srgbClr val="C4A87C">
                <a:alpha val="50196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762000" y="1651000"/>
            <a:ext cx="6350000" cy="25400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16000" dirty="0">
                <a:solidFill>
                  <a:srgbClr val="C4A87C"/>
                </a:solidFill>
                <a:latin typeface="Oranienbaum" panose="02000506080000020003" pitchFamily="34" charset="0"/>
                <a:ea typeface="Oranienbaum" panose="02000506080000020003" pitchFamily="34" charset="-122"/>
                <a:cs typeface="Oranienbaum" panose="02000506080000020003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62000" y="4762500"/>
            <a:ext cx="10160000" cy="2222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25000"/>
              </a:lnSpc>
            </a:pPr>
            <a:r>
              <a:rPr lang="en-US" sz="5200" dirty="0">
                <a:solidFill>
                  <a:srgbClr val="FFFFFF"/>
                </a:solidFill>
                <a:latin typeface="Oranienbaum" panose="02000506080000020003" pitchFamily="34" charset="0"/>
                <a:ea typeface="Oranienbaum" panose="02000506080000020003" pitchFamily="34" charset="-122"/>
                <a:cs typeface="Oranienbaum" panose="02000506080000020003" pitchFamily="34" charset="-120"/>
              </a:rPr>
              <a:t>Architecture Overview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762000" y="7137400"/>
            <a:ext cx="2540000" cy="0"/>
          </a:xfrm>
          <a:prstGeom prst="straightConnector1">
            <a:avLst/>
          </a:prstGeom>
          <a:noFill/>
          <a:ln w="6350">
            <a:solidFill>
              <a:srgbClr val="FFFFFF">
                <a:alpha val="37647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762000" y="7340600"/>
            <a:ext cx="8890000" cy="635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FFFFFF">
                    <a:alpha val="8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Stored program organization, memory architecture, and register file design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EB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1143000"/>
            <a:ext cx="7366000" cy="0"/>
          </a:xfrm>
          <a:prstGeom prst="straightConnector1">
            <a:avLst/>
          </a:prstGeom>
          <a:noFill/>
          <a:ln w="6350">
            <a:solidFill>
              <a:srgbClr val="C4A87C">
                <a:alpha val="37647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62000" y="1397000"/>
            <a:ext cx="7366000" cy="889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000" dirty="0">
                <a:solidFill>
                  <a:srgbClr val="1A1A1A"/>
                </a:solidFill>
                <a:latin typeface="Oranienbaum" panose="02000506080000020003" pitchFamily="34" charset="0"/>
                <a:ea typeface="Oranienbaum" panose="02000506080000020003" pitchFamily="34" charset="-122"/>
                <a:cs typeface="Oranienbaum" panose="02000506080000020003" pitchFamily="34" charset="-120"/>
              </a:rPr>
              <a:t>Stored Program Organization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62000" y="2540000"/>
            <a:ext cx="7366000" cy="3302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A1A1A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Built on the stored program concept — both instructions and data reside in unified memory. The processor fetches instructions sequentially via the Program Counter, decodes through the Control Unit, and executes via microoperations.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1A1A1A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A single </a:t>
            </a:r>
            <a:r>
              <a:rPr lang="en-US" sz="1800" b="1" dirty="0">
                <a:solidFill>
                  <a:srgbClr val="1A1A1A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4096 x 24-bit</a:t>
            </a:r>
            <a:r>
              <a:rPr lang="en-US" sz="1800" dirty="0">
                <a:solidFill>
                  <a:srgbClr val="1A1A1A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 memory serves both purposes. Reprogrammability is achieved by simply loading different instructions.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62000" y="5969000"/>
            <a:ext cx="73660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kern="0" spc="200" dirty="0">
                <a:solidFill>
                  <a:srgbClr val="C4A87C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24-BIT INSTRUCTION FORMAT</a:t>
            </a:r>
            <a:endParaRPr lang="en-US" sz="1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/>
        </p:nvGraphicFramePr>
        <p:xfrm>
          <a:off x="762000" y="6477000"/>
          <a:ext cx="7366000" cy="1778000"/>
        </p:xfrm>
        <a:graphic>
          <a:graphicData uri="http://schemas.openxmlformats.org/drawingml/2006/table">
            <a:tbl>
              <a:tblPr/>
              <a:tblGrid>
                <a:gridCol w="1473200"/>
                <a:gridCol w="1104900"/>
                <a:gridCol w="1104900"/>
                <a:gridCol w="1104900"/>
                <a:gridCol w="2578100"/>
              </a:tblGrid>
              <a:tr h="622300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Liter" panose="02000503030000020004" pitchFamily="3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Opcode</a:t>
                      </a:r>
                      <a:endParaRPr lang="en-US" sz="1600" dirty="0">
                        <a:latin typeface="Liter" panose="02000503030000020004" pitchFamily="34" charset="0"/>
                        <a:ea typeface="Liter" panose="02000503030000020004" pitchFamily="34" charset="0"/>
                        <a:cs typeface="Liter" panose="02000503030000020004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Liter" panose="02000503030000020004" pitchFamily="3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Mode</a:t>
                      </a:r>
                      <a:endParaRPr lang="en-US" sz="1600" dirty="0">
                        <a:latin typeface="Liter" panose="02000503030000020004" pitchFamily="34" charset="0"/>
                        <a:ea typeface="Liter" panose="02000503030000020004" pitchFamily="34" charset="0"/>
                        <a:cs typeface="Liter" panose="02000503030000020004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Liter" panose="02000503030000020004" pitchFamily="3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Rd</a:t>
                      </a:r>
                      <a:endParaRPr lang="en-US" sz="1600" dirty="0">
                        <a:latin typeface="Liter" panose="02000503030000020004" pitchFamily="34" charset="0"/>
                        <a:ea typeface="Liter" panose="02000503030000020004" pitchFamily="34" charset="0"/>
                        <a:cs typeface="Liter" panose="02000503030000020004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Liter" panose="02000503030000020004" pitchFamily="3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Rs</a:t>
                      </a:r>
                      <a:endParaRPr lang="en-US" sz="1600" dirty="0">
                        <a:latin typeface="Liter" panose="02000503030000020004" pitchFamily="34" charset="0"/>
                        <a:ea typeface="Liter" panose="02000503030000020004" pitchFamily="34" charset="0"/>
                        <a:cs typeface="Liter" panose="02000503030000020004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Liter" panose="02000503030000020004" pitchFamily="3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Address</a:t>
                      </a:r>
                      <a:endParaRPr lang="en-US" sz="1600" dirty="0">
                        <a:latin typeface="Liter" panose="02000503030000020004" pitchFamily="34" charset="0"/>
                        <a:ea typeface="Liter" panose="02000503030000020004" pitchFamily="34" charset="0"/>
                        <a:cs typeface="Liter" panose="02000503030000020004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1A"/>
                          </a:solidFill>
                          <a:latin typeface="Liter" panose="02000503030000020004" pitchFamily="3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5-bit</a:t>
                      </a:r>
                      <a:endParaRPr lang="en-US" sz="1600" dirty="0">
                        <a:latin typeface="Liter" panose="02000503030000020004" pitchFamily="34" charset="0"/>
                        <a:ea typeface="Liter" panose="02000503030000020004" pitchFamily="34" charset="0"/>
                        <a:cs typeface="Liter" panose="02000503030000020004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1A"/>
                          </a:solidFill>
                          <a:latin typeface="Liter" panose="02000503030000020004" pitchFamily="3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2-bit</a:t>
                      </a:r>
                      <a:endParaRPr lang="en-US" sz="1600" dirty="0">
                        <a:latin typeface="Liter" panose="02000503030000020004" pitchFamily="34" charset="0"/>
                        <a:ea typeface="Liter" panose="02000503030000020004" pitchFamily="34" charset="0"/>
                        <a:cs typeface="Liter" panose="02000503030000020004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1A"/>
                          </a:solidFill>
                          <a:latin typeface="Liter" panose="02000503030000020004" pitchFamily="3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3-bit</a:t>
                      </a:r>
                      <a:endParaRPr lang="en-US" sz="1600" dirty="0">
                        <a:latin typeface="Liter" panose="02000503030000020004" pitchFamily="34" charset="0"/>
                        <a:ea typeface="Liter" panose="02000503030000020004" pitchFamily="34" charset="0"/>
                        <a:cs typeface="Liter" panose="02000503030000020004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1A"/>
                          </a:solidFill>
                          <a:latin typeface="Liter" panose="02000503030000020004" pitchFamily="3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2-bit</a:t>
                      </a:r>
                      <a:endParaRPr lang="en-US" sz="1600" dirty="0">
                        <a:latin typeface="Liter" panose="02000503030000020004" pitchFamily="34" charset="0"/>
                        <a:ea typeface="Liter" panose="02000503030000020004" pitchFamily="34" charset="0"/>
                        <a:cs typeface="Liter" panose="02000503030000020004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1A"/>
                          </a:solidFill>
                          <a:latin typeface="Liter" panose="02000503030000020004" pitchFamily="3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12-bit</a:t>
                      </a:r>
                      <a:endParaRPr lang="en-US" sz="1600" dirty="0">
                        <a:latin typeface="Liter" panose="02000503030000020004" pitchFamily="34" charset="0"/>
                        <a:ea typeface="Liter" panose="02000503030000020004" pitchFamily="34" charset="0"/>
                        <a:cs typeface="Liter" panose="02000503030000020004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23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1A"/>
                          </a:solidFill>
                          <a:latin typeface="Liter" panose="02000503030000020004" pitchFamily="3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bits 23-19</a:t>
                      </a:r>
                      <a:endParaRPr lang="en-US" sz="1600" dirty="0">
                        <a:latin typeface="Liter" panose="02000503030000020004" pitchFamily="34" charset="0"/>
                        <a:ea typeface="Liter" panose="02000503030000020004" pitchFamily="34" charset="0"/>
                        <a:cs typeface="Liter" panose="02000503030000020004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1A"/>
                          </a:solidFill>
                          <a:latin typeface="Liter" panose="02000503030000020004" pitchFamily="3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bits 18-17</a:t>
                      </a:r>
                      <a:endParaRPr lang="en-US" sz="1600" dirty="0">
                        <a:latin typeface="Liter" panose="02000503030000020004" pitchFamily="34" charset="0"/>
                        <a:ea typeface="Liter" panose="02000503030000020004" pitchFamily="34" charset="0"/>
                        <a:cs typeface="Liter" panose="02000503030000020004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1A"/>
                          </a:solidFill>
                          <a:latin typeface="Liter" panose="02000503030000020004" pitchFamily="3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bits 16-14</a:t>
                      </a:r>
                      <a:endParaRPr lang="en-US" sz="1600" dirty="0">
                        <a:latin typeface="Liter" panose="02000503030000020004" pitchFamily="34" charset="0"/>
                        <a:ea typeface="Liter" panose="02000503030000020004" pitchFamily="34" charset="0"/>
                        <a:cs typeface="Liter" panose="02000503030000020004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1A"/>
                          </a:solidFill>
                          <a:latin typeface="Liter" panose="02000503030000020004" pitchFamily="3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bits 13-12</a:t>
                      </a:r>
                      <a:endParaRPr lang="en-US" sz="1600" dirty="0">
                        <a:latin typeface="Liter" panose="02000503030000020004" pitchFamily="34" charset="0"/>
                        <a:ea typeface="Liter" panose="02000503030000020004" pitchFamily="34" charset="0"/>
                        <a:cs typeface="Liter" panose="02000503030000020004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1A"/>
                          </a:solidFill>
                          <a:latin typeface="Liter" panose="02000503030000020004" pitchFamily="3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bits 11-0</a:t>
                      </a:r>
                      <a:endParaRPr lang="en-US" sz="1600" dirty="0">
                        <a:latin typeface="Liter" panose="02000503030000020004" pitchFamily="34" charset="0"/>
                        <a:ea typeface="Liter" panose="02000503030000020004" pitchFamily="34" charset="0"/>
                        <a:cs typeface="Liter" panose="02000503030000020004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E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762000" y="8382000"/>
            <a:ext cx="7366000" cy="0"/>
          </a:xfrm>
          <a:prstGeom prst="straightConnector1">
            <a:avLst/>
          </a:prstGeom>
          <a:noFill/>
          <a:ln w="6350">
            <a:solidFill>
              <a:srgbClr val="E8E0D5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0" descr="https://kimi-img.moonshot.cn/pub/slides/okc/2h72ijbqukzmu/mnt/okcomputer/output/24bit-processor/images/3_Abstract_Technology_Circuit_board.png"/>
          <p:cNvPicPr>
            <a:picLocks noChangeAspect="1"/>
          </p:cNvPicPr>
          <p:nvPr/>
        </p:nvPicPr>
        <p:blipFill>
          <a:blip r:embed="rId1"/>
          <a:srcRect l="24995" r="24995"/>
          <a:stretch>
            <a:fillRect/>
          </a:stretch>
        </p:blipFill>
        <p:spPr>
          <a:xfrm>
            <a:off x="8636000" y="0"/>
            <a:ext cx="7620000" cy="91440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EB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1143000"/>
            <a:ext cx="7366000" cy="0"/>
          </a:xfrm>
          <a:prstGeom prst="straightConnector1">
            <a:avLst/>
          </a:prstGeom>
          <a:noFill/>
          <a:ln w="6350">
            <a:solidFill>
              <a:srgbClr val="C4A87C">
                <a:alpha val="37647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62000" y="1397000"/>
            <a:ext cx="7366000" cy="889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000" dirty="0">
                <a:solidFill>
                  <a:srgbClr val="1A1A1A"/>
                </a:solidFill>
                <a:latin typeface="Oranienbaum" panose="02000506080000020003" pitchFamily="34" charset="0"/>
                <a:ea typeface="Oranienbaum" panose="02000506080000020003" pitchFamily="34" charset="-122"/>
                <a:cs typeface="Oranienbaum" panose="02000506080000020003" pitchFamily="34" charset="-120"/>
              </a:rPr>
              <a:t>Memory &amp; Register Organization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62000" y="2540000"/>
            <a:ext cx="7366000" cy="1968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1A1A1A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Memory:</a:t>
            </a:r>
            <a:r>
              <a:rPr lang="en-US" sz="1800" dirty="0">
                <a:solidFill>
                  <a:srgbClr val="1A1A1A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 4096 locations x 24 bits = 12,288 bytes. All memory access routes exclusively through the </a:t>
            </a:r>
            <a:r>
              <a:rPr lang="en-US" sz="1800" b="1" dirty="0">
                <a:solidFill>
                  <a:srgbClr val="1A1A1A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Address Register (AR)</a:t>
            </a:r>
            <a:r>
              <a:rPr lang="en-US" sz="1800" dirty="0">
                <a:solidFill>
                  <a:srgbClr val="1A1A1A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.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800" b="1" dirty="0">
                <a:solidFill>
                  <a:srgbClr val="1A1A1A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Stack:</a:t>
            </a:r>
            <a:r>
              <a:rPr lang="en-US" sz="1800" dirty="0">
                <a:solidFill>
                  <a:srgbClr val="1A1A1A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 R7 initialized at </a:t>
            </a:r>
            <a:r>
              <a:rPr lang="en-US" sz="1800" b="1" dirty="0">
                <a:solidFill>
                  <a:srgbClr val="1A1A1A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0xFFF</a:t>
            </a:r>
            <a:r>
              <a:rPr lang="en-US" sz="1800" dirty="0">
                <a:solidFill>
                  <a:srgbClr val="1A1A1A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 (4095), grows downward through 0xF00-0xFFF.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62000" y="4635500"/>
            <a:ext cx="73660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kern="0" spc="200" dirty="0">
                <a:solidFill>
                  <a:srgbClr val="C4A87C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REGISTER ORGANIZATION</a:t>
            </a:r>
            <a:endParaRPr lang="en-US" sz="1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/>
        </p:nvGraphicFramePr>
        <p:xfrm>
          <a:off x="762000" y="5143500"/>
          <a:ext cx="7366000" cy="3048000"/>
        </p:xfrm>
        <a:graphic>
          <a:graphicData uri="http://schemas.openxmlformats.org/drawingml/2006/table">
            <a:tbl>
              <a:tblPr/>
              <a:tblGrid>
                <a:gridCol w="2209800"/>
                <a:gridCol w="1104900"/>
                <a:gridCol w="1104900"/>
                <a:gridCol w="2946400"/>
              </a:tblGrid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Liter" panose="02000503030000020004" pitchFamily="3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Register</a:t>
                      </a:r>
                      <a:endParaRPr lang="en-US" sz="1600" dirty="0">
                        <a:latin typeface="Liter" panose="02000503030000020004" pitchFamily="34" charset="0"/>
                        <a:ea typeface="Liter" panose="02000503030000020004" pitchFamily="34" charset="0"/>
                        <a:cs typeface="Liter" panose="02000503030000020004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Liter" panose="02000503030000020004" pitchFamily="3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Acronym</a:t>
                      </a:r>
                      <a:endParaRPr lang="en-US" sz="1600" dirty="0">
                        <a:latin typeface="Liter" panose="02000503030000020004" pitchFamily="34" charset="0"/>
                        <a:ea typeface="Liter" panose="02000503030000020004" pitchFamily="34" charset="0"/>
                        <a:cs typeface="Liter" panose="02000503030000020004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Liter" panose="02000503030000020004" pitchFamily="3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Size</a:t>
                      </a:r>
                      <a:endParaRPr lang="en-US" sz="1600" dirty="0">
                        <a:latin typeface="Liter" panose="02000503030000020004" pitchFamily="34" charset="0"/>
                        <a:ea typeface="Liter" panose="02000503030000020004" pitchFamily="34" charset="0"/>
                        <a:cs typeface="Liter" panose="02000503030000020004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Liter" panose="02000503030000020004" pitchFamily="3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Purpose</a:t>
                      </a:r>
                      <a:endParaRPr lang="en-US" sz="1600" dirty="0">
                        <a:latin typeface="Liter" panose="02000503030000020004" pitchFamily="34" charset="0"/>
                        <a:ea typeface="Liter" panose="02000503030000020004" pitchFamily="34" charset="0"/>
                        <a:cs typeface="Liter" panose="02000503030000020004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1A"/>
                          </a:solidFill>
                          <a:latin typeface="Liter" panose="02000503030000020004" pitchFamily="3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Program Counter</a:t>
                      </a:r>
                      <a:endParaRPr lang="en-US" sz="1600" dirty="0">
                        <a:latin typeface="Liter" panose="02000503030000020004" pitchFamily="34" charset="0"/>
                        <a:ea typeface="Liter" panose="02000503030000020004" pitchFamily="34" charset="0"/>
                        <a:cs typeface="Liter" panose="02000503030000020004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1A"/>
                          </a:solidFill>
                          <a:latin typeface="Liter" panose="02000503030000020004" pitchFamily="3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PC</a:t>
                      </a:r>
                      <a:endParaRPr lang="en-US" sz="1600" dirty="0">
                        <a:latin typeface="Liter" panose="02000503030000020004" pitchFamily="34" charset="0"/>
                        <a:ea typeface="Liter" panose="02000503030000020004" pitchFamily="34" charset="0"/>
                        <a:cs typeface="Liter" panose="02000503030000020004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1A"/>
                          </a:solidFill>
                          <a:latin typeface="Liter" panose="02000503030000020004" pitchFamily="3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12-bit</a:t>
                      </a:r>
                      <a:endParaRPr lang="en-US" sz="1600" dirty="0">
                        <a:latin typeface="Liter" panose="02000503030000020004" pitchFamily="34" charset="0"/>
                        <a:ea typeface="Liter" panose="02000503030000020004" pitchFamily="34" charset="0"/>
                        <a:cs typeface="Liter" panose="02000503030000020004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1A"/>
                          </a:solidFill>
                          <a:latin typeface="Liter" panose="02000503030000020004" pitchFamily="3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Next instruction address</a:t>
                      </a:r>
                      <a:endParaRPr lang="en-US" sz="1600" dirty="0">
                        <a:latin typeface="Liter" panose="02000503030000020004" pitchFamily="34" charset="0"/>
                        <a:ea typeface="Liter" panose="02000503030000020004" pitchFamily="34" charset="0"/>
                        <a:cs typeface="Liter" panose="02000503030000020004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1A"/>
                          </a:solidFill>
                          <a:latin typeface="Liter" panose="02000503030000020004" pitchFamily="3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Zero Register</a:t>
                      </a:r>
                      <a:endParaRPr lang="en-US" sz="1600" dirty="0">
                        <a:latin typeface="Liter" panose="02000503030000020004" pitchFamily="34" charset="0"/>
                        <a:ea typeface="Liter" panose="02000503030000020004" pitchFamily="34" charset="0"/>
                        <a:cs typeface="Liter" panose="02000503030000020004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1A"/>
                          </a:solidFill>
                          <a:latin typeface="Liter" panose="02000503030000020004" pitchFamily="3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ZR (R0)</a:t>
                      </a:r>
                      <a:endParaRPr lang="en-US" sz="1600" dirty="0">
                        <a:latin typeface="Liter" panose="02000503030000020004" pitchFamily="34" charset="0"/>
                        <a:ea typeface="Liter" panose="02000503030000020004" pitchFamily="34" charset="0"/>
                        <a:cs typeface="Liter" panose="02000503030000020004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1A"/>
                          </a:solidFill>
                          <a:latin typeface="Liter" panose="02000503030000020004" pitchFamily="3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24-bit</a:t>
                      </a:r>
                      <a:endParaRPr lang="en-US" sz="1600" dirty="0">
                        <a:latin typeface="Liter" panose="02000503030000020004" pitchFamily="34" charset="0"/>
                        <a:ea typeface="Liter" panose="02000503030000020004" pitchFamily="34" charset="0"/>
                        <a:cs typeface="Liter" panose="02000503030000020004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1A"/>
                          </a:solidFill>
                          <a:latin typeface="Liter" panose="02000503030000020004" pitchFamily="3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Permanently 0, read-only</a:t>
                      </a:r>
                      <a:endParaRPr lang="en-US" sz="1600" dirty="0">
                        <a:latin typeface="Liter" panose="02000503030000020004" pitchFamily="34" charset="0"/>
                        <a:ea typeface="Liter" panose="02000503030000020004" pitchFamily="34" charset="0"/>
                        <a:cs typeface="Liter" panose="02000503030000020004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E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1A"/>
                          </a:solidFill>
                          <a:latin typeface="Liter" panose="02000503030000020004" pitchFamily="3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General Purpose</a:t>
                      </a:r>
                      <a:endParaRPr lang="en-US" sz="1600" dirty="0">
                        <a:latin typeface="Liter" panose="02000503030000020004" pitchFamily="34" charset="0"/>
                        <a:ea typeface="Liter" panose="02000503030000020004" pitchFamily="34" charset="0"/>
                        <a:cs typeface="Liter" panose="02000503030000020004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1A"/>
                          </a:solidFill>
                          <a:latin typeface="Liter" panose="02000503030000020004" pitchFamily="3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R1-R5</a:t>
                      </a:r>
                      <a:endParaRPr lang="en-US" sz="1600" dirty="0">
                        <a:latin typeface="Liter" panose="02000503030000020004" pitchFamily="34" charset="0"/>
                        <a:ea typeface="Liter" panose="02000503030000020004" pitchFamily="34" charset="0"/>
                        <a:cs typeface="Liter" panose="02000503030000020004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1A"/>
                          </a:solidFill>
                          <a:latin typeface="Liter" panose="02000503030000020004" pitchFamily="3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24-bit</a:t>
                      </a:r>
                      <a:endParaRPr lang="en-US" sz="1600" dirty="0">
                        <a:latin typeface="Liter" panose="02000503030000020004" pitchFamily="34" charset="0"/>
                        <a:ea typeface="Liter" panose="02000503030000020004" pitchFamily="34" charset="0"/>
                        <a:cs typeface="Liter" panose="02000503030000020004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1A"/>
                          </a:solidFill>
                          <a:latin typeface="Liter" panose="02000503030000020004" pitchFamily="3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Operands and results</a:t>
                      </a:r>
                      <a:endParaRPr lang="en-US" sz="1600" dirty="0">
                        <a:latin typeface="Liter" panose="02000503030000020004" pitchFamily="34" charset="0"/>
                        <a:ea typeface="Liter" panose="02000503030000020004" pitchFamily="34" charset="0"/>
                        <a:cs typeface="Liter" panose="02000503030000020004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1A"/>
                          </a:solidFill>
                          <a:latin typeface="Liter" panose="02000503030000020004" pitchFamily="3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Link Register</a:t>
                      </a:r>
                      <a:endParaRPr lang="en-US" sz="1600" dirty="0">
                        <a:latin typeface="Liter" panose="02000503030000020004" pitchFamily="34" charset="0"/>
                        <a:ea typeface="Liter" panose="02000503030000020004" pitchFamily="34" charset="0"/>
                        <a:cs typeface="Liter" panose="02000503030000020004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1A"/>
                          </a:solidFill>
                          <a:latin typeface="Liter" panose="02000503030000020004" pitchFamily="3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LR (R6)</a:t>
                      </a:r>
                      <a:endParaRPr lang="en-US" sz="1600" dirty="0">
                        <a:latin typeface="Liter" panose="02000503030000020004" pitchFamily="34" charset="0"/>
                        <a:ea typeface="Liter" panose="02000503030000020004" pitchFamily="34" charset="0"/>
                        <a:cs typeface="Liter" panose="02000503030000020004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1A"/>
                          </a:solidFill>
                          <a:latin typeface="Liter" panose="02000503030000020004" pitchFamily="3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24-bit</a:t>
                      </a:r>
                      <a:endParaRPr lang="en-US" sz="1600" dirty="0">
                        <a:latin typeface="Liter" panose="02000503030000020004" pitchFamily="34" charset="0"/>
                        <a:ea typeface="Liter" panose="02000503030000020004" pitchFamily="34" charset="0"/>
                        <a:cs typeface="Liter" panose="02000503030000020004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1A"/>
                          </a:solidFill>
                          <a:latin typeface="Liter" panose="02000503030000020004" pitchFamily="3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Return address for CALL</a:t>
                      </a:r>
                      <a:endParaRPr lang="en-US" sz="1600" dirty="0">
                        <a:latin typeface="Liter" panose="02000503030000020004" pitchFamily="34" charset="0"/>
                        <a:ea typeface="Liter" panose="02000503030000020004" pitchFamily="34" charset="0"/>
                        <a:cs typeface="Liter" panose="02000503030000020004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E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1A"/>
                          </a:solidFill>
                          <a:latin typeface="Liter" panose="02000503030000020004" pitchFamily="3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Stack Register</a:t>
                      </a:r>
                      <a:endParaRPr lang="en-US" sz="1600" dirty="0">
                        <a:latin typeface="Liter" panose="02000503030000020004" pitchFamily="34" charset="0"/>
                        <a:ea typeface="Liter" panose="02000503030000020004" pitchFamily="34" charset="0"/>
                        <a:cs typeface="Liter" panose="02000503030000020004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1A"/>
                          </a:solidFill>
                          <a:latin typeface="Liter" panose="02000503030000020004" pitchFamily="3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SR (R7)</a:t>
                      </a:r>
                      <a:endParaRPr lang="en-US" sz="1600" dirty="0">
                        <a:latin typeface="Liter" panose="02000503030000020004" pitchFamily="34" charset="0"/>
                        <a:ea typeface="Liter" panose="02000503030000020004" pitchFamily="34" charset="0"/>
                        <a:cs typeface="Liter" panose="02000503030000020004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1A"/>
                          </a:solidFill>
                          <a:latin typeface="Liter" panose="02000503030000020004" pitchFamily="3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24-bit</a:t>
                      </a:r>
                      <a:endParaRPr lang="en-US" sz="1600" dirty="0">
                        <a:latin typeface="Liter" panose="02000503030000020004" pitchFamily="34" charset="0"/>
                        <a:ea typeface="Liter" panose="02000503030000020004" pitchFamily="34" charset="0"/>
                        <a:cs typeface="Liter" panose="02000503030000020004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1A"/>
                          </a:solidFill>
                          <a:latin typeface="Liter" panose="02000503030000020004" pitchFamily="3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Stack pointer @ 0xFFF</a:t>
                      </a:r>
                      <a:endParaRPr lang="en-US" sz="1600" dirty="0">
                        <a:latin typeface="Liter" panose="02000503030000020004" pitchFamily="34" charset="0"/>
                        <a:ea typeface="Liter" panose="02000503030000020004" pitchFamily="34" charset="0"/>
                        <a:cs typeface="Liter" panose="02000503030000020004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1A"/>
                          </a:solidFill>
                          <a:latin typeface="Liter" panose="02000503030000020004" pitchFamily="3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Address Register</a:t>
                      </a:r>
                      <a:endParaRPr lang="en-US" sz="1600" dirty="0">
                        <a:latin typeface="Liter" panose="02000503030000020004" pitchFamily="34" charset="0"/>
                        <a:ea typeface="Liter" panose="02000503030000020004" pitchFamily="34" charset="0"/>
                        <a:cs typeface="Liter" panose="02000503030000020004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1A"/>
                          </a:solidFill>
                          <a:latin typeface="Liter" panose="02000503030000020004" pitchFamily="3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AR</a:t>
                      </a:r>
                      <a:endParaRPr lang="en-US" sz="1600" dirty="0">
                        <a:latin typeface="Liter" panose="02000503030000020004" pitchFamily="34" charset="0"/>
                        <a:ea typeface="Liter" panose="02000503030000020004" pitchFamily="34" charset="0"/>
                        <a:cs typeface="Liter" panose="02000503030000020004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1A"/>
                          </a:solidFill>
                          <a:latin typeface="Liter" panose="02000503030000020004" pitchFamily="3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12-bit</a:t>
                      </a:r>
                      <a:endParaRPr lang="en-US" sz="1600" dirty="0">
                        <a:latin typeface="Liter" panose="02000503030000020004" pitchFamily="34" charset="0"/>
                        <a:ea typeface="Liter" panose="02000503030000020004" pitchFamily="34" charset="0"/>
                        <a:cs typeface="Liter" panose="02000503030000020004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1A"/>
                          </a:solidFill>
                          <a:latin typeface="Liter" panose="02000503030000020004" pitchFamily="3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Only memory address bus</a:t>
                      </a:r>
                      <a:endParaRPr lang="en-US" sz="1600" dirty="0">
                        <a:latin typeface="Liter" panose="02000503030000020004" pitchFamily="34" charset="0"/>
                        <a:ea typeface="Liter" panose="02000503030000020004" pitchFamily="34" charset="0"/>
                        <a:cs typeface="Liter" panose="02000503030000020004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E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1A"/>
                          </a:solidFill>
                          <a:latin typeface="Liter" panose="02000503030000020004" pitchFamily="3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Instruction Reg</a:t>
                      </a:r>
                      <a:endParaRPr lang="en-US" sz="1600" dirty="0">
                        <a:latin typeface="Liter" panose="02000503030000020004" pitchFamily="34" charset="0"/>
                        <a:ea typeface="Liter" panose="02000503030000020004" pitchFamily="34" charset="0"/>
                        <a:cs typeface="Liter" panose="02000503030000020004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1A"/>
                          </a:solidFill>
                          <a:latin typeface="Liter" panose="02000503030000020004" pitchFamily="3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IR</a:t>
                      </a:r>
                      <a:endParaRPr lang="en-US" sz="1600" dirty="0">
                        <a:latin typeface="Liter" panose="02000503030000020004" pitchFamily="34" charset="0"/>
                        <a:ea typeface="Liter" panose="02000503030000020004" pitchFamily="34" charset="0"/>
                        <a:cs typeface="Liter" panose="02000503030000020004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1A"/>
                          </a:solidFill>
                          <a:latin typeface="Liter" panose="02000503030000020004" pitchFamily="3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24-bit</a:t>
                      </a:r>
                      <a:endParaRPr lang="en-US" sz="1600" dirty="0">
                        <a:latin typeface="Liter" panose="02000503030000020004" pitchFamily="34" charset="0"/>
                        <a:ea typeface="Liter" panose="02000503030000020004" pitchFamily="34" charset="0"/>
                        <a:cs typeface="Liter" panose="02000503030000020004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1A"/>
                          </a:solidFill>
                          <a:latin typeface="Liter" panose="02000503030000020004" pitchFamily="3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Current instruction</a:t>
                      </a:r>
                      <a:endParaRPr lang="en-US" sz="1600" dirty="0">
                        <a:latin typeface="Liter" panose="02000503030000020004" pitchFamily="34" charset="0"/>
                        <a:ea typeface="Liter" panose="02000503030000020004" pitchFamily="34" charset="0"/>
                        <a:cs typeface="Liter" panose="02000503030000020004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762000" y="8382000"/>
            <a:ext cx="7366000" cy="0"/>
          </a:xfrm>
          <a:prstGeom prst="straightConnector1">
            <a:avLst/>
          </a:prstGeom>
          <a:noFill/>
          <a:ln w="6350">
            <a:solidFill>
              <a:srgbClr val="E8E0D5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0" descr="https://kimi-img.moonshot.cn/pub/slides/okc/2h72ijbqukzmu/mnt/okcomputer/output/24bit-processor/images/4_Glowing_red_computer_processor_on.png"/>
          <p:cNvPicPr>
            <a:picLocks noChangeAspect="1"/>
          </p:cNvPicPr>
          <p:nvPr/>
        </p:nvPicPr>
        <p:blipFill>
          <a:blip r:embed="rId1"/>
          <a:srcRect l="27285" r="27285"/>
          <a:stretch>
            <a:fillRect/>
          </a:stretch>
        </p:blipFill>
        <p:spPr>
          <a:xfrm>
            <a:off x="8636000" y="0"/>
            <a:ext cx="7620000" cy="91440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2h72ijbqukzmu/mnt/okcomputer/output/24bit-processor/images/1_Close_up_of_a_Microprocessor_on_a.png"/>
          <p:cNvPicPr>
            <a:picLocks noChangeAspect="1"/>
          </p:cNvPicPr>
          <p:nvPr/>
        </p:nvPicPr>
        <p:blipFill>
          <a:blip r:embed="rId1"/>
          <a:srcRect t="9821" b="9821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2A2420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762000" y="762000"/>
            <a:ext cx="38100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kern="0" spc="600" dirty="0">
                <a:solidFill>
                  <a:srgbClr val="C4A87C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CHAPTER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762000" y="1219200"/>
            <a:ext cx="2540000" cy="0"/>
          </a:xfrm>
          <a:prstGeom prst="straightConnector1">
            <a:avLst/>
          </a:prstGeom>
          <a:noFill/>
          <a:ln w="6350">
            <a:solidFill>
              <a:srgbClr val="C4A87C">
                <a:alpha val="50196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762000" y="1651000"/>
            <a:ext cx="6350000" cy="25400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16000" dirty="0">
                <a:solidFill>
                  <a:srgbClr val="C4A87C"/>
                </a:solidFill>
                <a:latin typeface="Oranienbaum" panose="02000506080000020003" pitchFamily="34" charset="0"/>
                <a:ea typeface="Oranienbaum" panose="02000506080000020003" pitchFamily="34" charset="-122"/>
                <a:cs typeface="Oranienbaum" panose="02000506080000020003" pitchFamily="34" charset="-120"/>
              </a:rPr>
              <a:t>02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62000" y="4762500"/>
            <a:ext cx="10160000" cy="2222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25000"/>
              </a:lnSpc>
            </a:pPr>
            <a:r>
              <a:rPr lang="en-US" sz="5200" dirty="0">
                <a:solidFill>
                  <a:srgbClr val="FFFFFF"/>
                </a:solidFill>
                <a:latin typeface="Oranienbaum" panose="02000506080000020003" pitchFamily="34" charset="0"/>
                <a:ea typeface="Oranienbaum" panose="02000506080000020003" pitchFamily="34" charset="-122"/>
                <a:cs typeface="Oranienbaum" panose="02000506080000020003" pitchFamily="34" charset="-120"/>
              </a:rPr>
              <a:t>Addressing Modes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762000" y="7137400"/>
            <a:ext cx="2540000" cy="0"/>
          </a:xfrm>
          <a:prstGeom prst="straightConnector1">
            <a:avLst/>
          </a:prstGeom>
          <a:noFill/>
          <a:ln w="6350">
            <a:solidFill>
              <a:srgbClr val="FFFFFF">
                <a:alpha val="37647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762000" y="7340600"/>
            <a:ext cx="8890000" cy="635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FFFFFF">
                    <a:alpha val="8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Three addressing modes and the expanded instruction set architecture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EB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1143000"/>
            <a:ext cx="7366000" cy="0"/>
          </a:xfrm>
          <a:prstGeom prst="straightConnector1">
            <a:avLst/>
          </a:prstGeom>
          <a:noFill/>
          <a:ln w="6350">
            <a:solidFill>
              <a:srgbClr val="C4A87C">
                <a:alpha val="37647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62000" y="1397000"/>
            <a:ext cx="7366000" cy="889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000" dirty="0">
                <a:solidFill>
                  <a:srgbClr val="1A1A1A"/>
                </a:solidFill>
                <a:latin typeface="Oranienbaum" panose="02000506080000020003" pitchFamily="34" charset="0"/>
                <a:ea typeface="Oranienbaum" panose="02000506080000020003" pitchFamily="34" charset="-122"/>
                <a:cs typeface="Oranienbaum" panose="02000506080000020003" pitchFamily="34" charset="-120"/>
              </a:rPr>
              <a:t>No Address Mode (NA)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62000" y="2476500"/>
            <a:ext cx="7366000" cy="317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i="1" dirty="0">
                <a:solidFill>
                  <a:srgbClr val="8B7355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Figure 1 — Register-to-register operation with no memory access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62000" y="3048000"/>
            <a:ext cx="7366000" cy="3048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A1A1A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When </a:t>
            </a:r>
            <a:r>
              <a:rPr lang="en-US" sz="1800" b="1" dirty="0">
                <a:solidFill>
                  <a:srgbClr val="1A1A1A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mode = 00</a:t>
            </a:r>
            <a:r>
              <a:rPr lang="en-US" sz="1800" dirty="0">
                <a:solidFill>
                  <a:srgbClr val="1A1A1A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, the ALU reads operands directly from </a:t>
            </a:r>
            <a:r>
              <a:rPr lang="en-US" sz="1800" b="1" dirty="0">
                <a:solidFill>
                  <a:srgbClr val="1A1A1A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Rs</a:t>
            </a:r>
            <a:r>
              <a:rPr lang="en-US" sz="1800" dirty="0">
                <a:solidFill>
                  <a:srgbClr val="1A1A1A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 and </a:t>
            </a:r>
            <a:r>
              <a:rPr lang="en-US" sz="1800" b="1" dirty="0">
                <a:solidFill>
                  <a:srgbClr val="1A1A1A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Rd</a:t>
            </a:r>
            <a:r>
              <a:rPr lang="en-US" sz="1800" dirty="0">
                <a:solidFill>
                  <a:srgbClr val="1A1A1A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 registers. Results are written back to Rd.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C4A87C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Fastest mode</a:t>
            </a:r>
            <a:r>
              <a:rPr lang="en-US" sz="1800" dirty="0">
                <a:solidFill>
                  <a:srgbClr val="1A1A1A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 : zero memory accesses eliminate all memory latency.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800" b="1" dirty="0">
                <a:solidFill>
                  <a:srgbClr val="1A1A1A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Supported instructions:</a:t>
            </a:r>
            <a:r>
              <a:rPr lang="en-US" sz="1800" dirty="0">
                <a:solidFill>
                  <a:srgbClr val="1A1A1A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 ADD, SUB, AND, OR, XOR, NOT, MOV, CIL, CIR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800" b="1" dirty="0">
                <a:solidFill>
                  <a:srgbClr val="1A1A1A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Example:</a:t>
            </a:r>
            <a:r>
              <a:rPr lang="en-US" sz="1800" dirty="0">
                <a:solidFill>
                  <a:srgbClr val="1A1A1A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 ADD R2,R3 — R2=15, R3=10, result 25 stored in R2. No memory access required.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62000" y="8382000"/>
            <a:ext cx="7366000" cy="0"/>
          </a:xfrm>
          <a:prstGeom prst="straightConnector1">
            <a:avLst/>
          </a:prstGeom>
          <a:noFill/>
          <a:ln w="6350">
            <a:solidFill>
              <a:srgbClr val="E8E0D5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https://kimi-img.moonshot.cn/pub/slides/okc/2h72ijbqukzmu/mnt/okcomputer/output/24bit-processor/images/word/media/image2.jpeg"/>
          <p:cNvPicPr>
            <a:picLocks noChangeAspect="1"/>
          </p:cNvPicPr>
          <p:nvPr/>
        </p:nvPicPr>
        <p:blipFill>
          <a:blip r:embed="rId1"/>
          <a:srcRect t="-26089" b="-26089"/>
          <a:stretch>
            <a:fillRect/>
          </a:stretch>
        </p:blipFill>
        <p:spPr>
          <a:xfrm>
            <a:off x="8636000" y="0"/>
            <a:ext cx="7620000" cy="91440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EB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1143000"/>
            <a:ext cx="7366000" cy="0"/>
          </a:xfrm>
          <a:prstGeom prst="straightConnector1">
            <a:avLst/>
          </a:prstGeom>
          <a:noFill/>
          <a:ln w="6350">
            <a:solidFill>
              <a:srgbClr val="C4A87C">
                <a:alpha val="37647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62000" y="1397000"/>
            <a:ext cx="7366000" cy="889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000" dirty="0">
                <a:solidFill>
                  <a:srgbClr val="1A1A1A"/>
                </a:solidFill>
                <a:latin typeface="Oranienbaum" panose="02000506080000020003" pitchFamily="34" charset="0"/>
                <a:ea typeface="Oranienbaum" panose="02000506080000020003" pitchFamily="34" charset="-122"/>
                <a:cs typeface="Oranienbaum" panose="02000506080000020003" pitchFamily="34" charset="-120"/>
              </a:rPr>
              <a:t>Direct &amp; Indirect Access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62000" y="2476500"/>
            <a:ext cx="7366000" cy="317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i="1" dirty="0">
                <a:solidFill>
                  <a:srgbClr val="8B7355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Figure 2 — DMA (left) vs IMA (right) memory access patterns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62000" y="3048000"/>
            <a:ext cx="7366000" cy="3365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1A1A1A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DMA (Mode 01):</a:t>
            </a:r>
            <a:r>
              <a:rPr lang="en-US" sz="1800" dirty="0">
                <a:solidFill>
                  <a:srgbClr val="1A1A1A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 Address field contains the </a:t>
            </a:r>
            <a:r>
              <a:rPr lang="en-US" sz="1800" i="1" dirty="0">
                <a:solidFill>
                  <a:srgbClr val="1A1A1A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exact</a:t>
            </a:r>
            <a:r>
              <a:rPr lang="en-US" sz="1800" dirty="0">
                <a:solidFill>
                  <a:srgbClr val="1A1A1A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 memory address. One memory access — load address into AR, retrieve operand. Used by LOAD and STORE.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800" b="1" dirty="0">
                <a:solidFill>
                  <a:srgbClr val="1A1A1A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IMA (Mode 10):</a:t>
            </a:r>
            <a:r>
              <a:rPr lang="en-US" sz="1800" dirty="0">
                <a:solidFill>
                  <a:srgbClr val="1A1A1A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 Address field points to a </a:t>
            </a:r>
            <a:r>
              <a:rPr lang="en-US" sz="1800" i="1" dirty="0">
                <a:solidFill>
                  <a:srgbClr val="1A1A1A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pointer</a:t>
            </a:r>
            <a:r>
              <a:rPr lang="en-US" sz="1800" dirty="0">
                <a:solidFill>
                  <a:srgbClr val="1A1A1A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 containing the actual address. Two memory accesses — slower but enables dynamic address resolution.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C4A87C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Speed ranking:</a:t>
            </a:r>
            <a:r>
              <a:rPr lang="en-US" sz="1800" dirty="0">
                <a:solidFill>
                  <a:srgbClr val="1A1A1A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 NA  &gt; DMA  &gt; IMA 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62000" y="8382000"/>
            <a:ext cx="7366000" cy="0"/>
          </a:xfrm>
          <a:prstGeom prst="straightConnector1">
            <a:avLst/>
          </a:prstGeom>
          <a:noFill/>
          <a:ln w="6350">
            <a:solidFill>
              <a:srgbClr val="E8E0D5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https://kimi-img.moonshot.cn/pub/slides/okc/2h72ijbqukzmu/mnt/okcomputer/output/24bit-processor/images/word/media/image3.jpeg"/>
          <p:cNvPicPr>
            <a:picLocks noChangeAspect="1"/>
          </p:cNvPicPr>
          <p:nvPr/>
        </p:nvPicPr>
        <p:blipFill>
          <a:blip r:embed="rId1"/>
          <a:srcRect t="-8040" b="-8040"/>
          <a:stretch>
            <a:fillRect/>
          </a:stretch>
        </p:blipFill>
        <p:spPr>
          <a:xfrm>
            <a:off x="8636000" y="0"/>
            <a:ext cx="7620000" cy="91440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EB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801624"/>
            <a:ext cx="14732000" cy="0"/>
          </a:xfrm>
          <a:prstGeom prst="straightConnector1">
            <a:avLst/>
          </a:prstGeom>
          <a:noFill/>
          <a:ln w="6350">
            <a:solidFill>
              <a:srgbClr val="C4A87C">
                <a:alpha val="37647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62000" y="1055624"/>
            <a:ext cx="7620000" cy="889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000" dirty="0">
                <a:solidFill>
                  <a:srgbClr val="1A1A1A"/>
                </a:solidFill>
                <a:latin typeface="Oranienbaum" panose="02000506080000020003" pitchFamily="34" charset="0"/>
                <a:ea typeface="Oranienbaum" panose="02000506080000020003" pitchFamily="34" charset="-122"/>
                <a:cs typeface="Oranienbaum" panose="02000506080000020003" pitchFamily="34" charset="-120"/>
              </a:rPr>
              <a:t>Complete Instruction Set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62000" y="2008124"/>
            <a:ext cx="76200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kern="0" spc="200" dirty="0">
                <a:solidFill>
                  <a:srgbClr val="C4A87C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23 INSTRUCTIONS ACROSS 5 CATEGORIES</a:t>
            </a:r>
            <a:endParaRPr lang="en-US" sz="1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/>
        </p:nvGraphicFramePr>
        <p:xfrm>
          <a:off x="762000" y="2579622"/>
          <a:ext cx="14732000" cy="6371169"/>
        </p:xfrm>
        <a:graphic>
          <a:graphicData uri="http://schemas.openxmlformats.org/drawingml/2006/table">
            <a:tbl>
              <a:tblPr/>
              <a:tblGrid>
                <a:gridCol w="1767840"/>
                <a:gridCol w="1767840"/>
                <a:gridCol w="1767840"/>
                <a:gridCol w="9428480"/>
              </a:tblGrid>
              <a:tr h="303389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Liter" panose="02000503030000020004" pitchFamily="3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Symbol</a:t>
                      </a:r>
                      <a:endParaRPr lang="en-US" sz="1600" dirty="0">
                        <a:latin typeface="Liter" panose="02000503030000020004" pitchFamily="34" charset="0"/>
                        <a:ea typeface="Liter" panose="02000503030000020004" pitchFamily="34" charset="0"/>
                        <a:cs typeface="Liter" panose="02000503030000020004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Liter" panose="02000503030000020004" pitchFamily="3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I=0</a:t>
                      </a:r>
                      <a:endParaRPr lang="en-US" sz="1600" dirty="0">
                        <a:latin typeface="Liter" panose="02000503030000020004" pitchFamily="34" charset="0"/>
                        <a:ea typeface="Liter" panose="02000503030000020004" pitchFamily="34" charset="0"/>
                        <a:cs typeface="Liter" panose="02000503030000020004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Liter" panose="02000503030000020004" pitchFamily="3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I=1</a:t>
                      </a:r>
                      <a:endParaRPr lang="en-US" sz="1600" dirty="0">
                        <a:latin typeface="Liter" panose="02000503030000020004" pitchFamily="34" charset="0"/>
                        <a:ea typeface="Liter" panose="02000503030000020004" pitchFamily="34" charset="0"/>
                        <a:cs typeface="Liter" panose="02000503030000020004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Liter" panose="02000503030000020004" pitchFamily="3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Description</a:t>
                      </a:r>
                      <a:endParaRPr lang="en-US" sz="1600" dirty="0">
                        <a:latin typeface="Liter" panose="02000503030000020004" pitchFamily="34" charset="0"/>
                        <a:ea typeface="Liter" panose="02000503030000020004" pitchFamily="34" charset="0"/>
                        <a:cs typeface="Liter" panose="02000503030000020004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  <a:tr h="303389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1A"/>
                          </a:solidFill>
                          <a:latin typeface="Liter" panose="02000503030000020004" pitchFamily="3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ADD</a:t>
                      </a:r>
                      <a:endParaRPr lang="en-US" sz="1600" dirty="0">
                        <a:latin typeface="Liter" panose="02000503030000020004" pitchFamily="34" charset="0"/>
                        <a:ea typeface="Liter" panose="02000503030000020004" pitchFamily="34" charset="0"/>
                        <a:cs typeface="Liter" panose="02000503030000020004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1A"/>
                          </a:solidFill>
                          <a:latin typeface="Liter" panose="02000503030000020004" pitchFamily="3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1xxx</a:t>
                      </a:r>
                      <a:endParaRPr lang="en-US" sz="1600" dirty="0">
                        <a:latin typeface="Liter" panose="02000503030000020004" pitchFamily="34" charset="0"/>
                        <a:ea typeface="Liter" panose="02000503030000020004" pitchFamily="34" charset="0"/>
                        <a:cs typeface="Liter" panose="02000503030000020004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1A"/>
                          </a:solidFill>
                          <a:latin typeface="Liter" panose="02000503030000020004" pitchFamily="3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9xxx</a:t>
                      </a:r>
                      <a:endParaRPr lang="en-US" sz="1600" dirty="0">
                        <a:latin typeface="Liter" panose="02000503030000020004" pitchFamily="34" charset="0"/>
                        <a:ea typeface="Liter" panose="02000503030000020004" pitchFamily="34" charset="0"/>
                        <a:cs typeface="Liter" panose="02000503030000020004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1A"/>
                          </a:solidFill>
                          <a:latin typeface="Liter" panose="02000503030000020004" pitchFamily="3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Add Rs to Rd, store in Rd, update PSR</a:t>
                      </a:r>
                      <a:endParaRPr lang="en-US" sz="1600" dirty="0">
                        <a:latin typeface="Liter" panose="02000503030000020004" pitchFamily="34" charset="0"/>
                        <a:ea typeface="Liter" panose="02000503030000020004" pitchFamily="34" charset="0"/>
                        <a:cs typeface="Liter" panose="02000503030000020004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3389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1A"/>
                          </a:solidFill>
                          <a:latin typeface="Liter" panose="02000503030000020004" pitchFamily="3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SUB</a:t>
                      </a:r>
                      <a:endParaRPr lang="en-US" sz="1600" dirty="0">
                        <a:latin typeface="Liter" panose="02000503030000020004" pitchFamily="34" charset="0"/>
                        <a:ea typeface="Liter" panose="02000503030000020004" pitchFamily="34" charset="0"/>
                        <a:cs typeface="Liter" panose="02000503030000020004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1A"/>
                          </a:solidFill>
                          <a:latin typeface="Liter" panose="02000503030000020004" pitchFamily="3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2000</a:t>
                      </a:r>
                      <a:endParaRPr lang="en-US" sz="1600" dirty="0">
                        <a:latin typeface="Liter" panose="02000503030000020004" pitchFamily="34" charset="0"/>
                        <a:ea typeface="Liter" panose="02000503030000020004" pitchFamily="34" charset="0"/>
                        <a:cs typeface="Liter" panose="02000503030000020004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1A"/>
                          </a:solidFill>
                          <a:latin typeface="Liter" panose="02000503030000020004" pitchFamily="3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A000</a:t>
                      </a:r>
                      <a:endParaRPr lang="en-US" sz="1600" dirty="0">
                        <a:latin typeface="Liter" panose="02000503030000020004" pitchFamily="34" charset="0"/>
                        <a:ea typeface="Liter" panose="02000503030000020004" pitchFamily="34" charset="0"/>
                        <a:cs typeface="Liter" panose="02000503030000020004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1A"/>
                          </a:solidFill>
                          <a:latin typeface="Liter" panose="02000503030000020004" pitchFamily="3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Subtract Rs from Rd, store in Rd, update PSR</a:t>
                      </a:r>
                      <a:endParaRPr lang="en-US" sz="1600" dirty="0">
                        <a:latin typeface="Liter" panose="02000503030000020004" pitchFamily="34" charset="0"/>
                        <a:ea typeface="Liter" panose="02000503030000020004" pitchFamily="34" charset="0"/>
                        <a:cs typeface="Liter" panose="02000503030000020004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E"/>
                    </a:solidFill>
                  </a:tcPr>
                </a:tc>
              </a:tr>
              <a:tr h="303389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1A"/>
                          </a:solidFill>
                          <a:latin typeface="Liter" panose="02000503030000020004" pitchFamily="3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AND</a:t>
                      </a:r>
                      <a:endParaRPr lang="en-US" sz="1600" dirty="0">
                        <a:latin typeface="Liter" panose="02000503030000020004" pitchFamily="34" charset="0"/>
                        <a:ea typeface="Liter" panose="02000503030000020004" pitchFamily="34" charset="0"/>
                        <a:cs typeface="Liter" panose="02000503030000020004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1A"/>
                          </a:solidFill>
                          <a:latin typeface="Liter" panose="02000503030000020004" pitchFamily="3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0xxx</a:t>
                      </a:r>
                      <a:endParaRPr lang="en-US" sz="1600" dirty="0">
                        <a:latin typeface="Liter" panose="02000503030000020004" pitchFamily="34" charset="0"/>
                        <a:ea typeface="Liter" panose="02000503030000020004" pitchFamily="34" charset="0"/>
                        <a:cs typeface="Liter" panose="02000503030000020004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1A"/>
                          </a:solidFill>
                          <a:latin typeface="Liter" panose="02000503030000020004" pitchFamily="3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8xxx</a:t>
                      </a:r>
                      <a:endParaRPr lang="en-US" sz="1600" dirty="0">
                        <a:latin typeface="Liter" panose="02000503030000020004" pitchFamily="34" charset="0"/>
                        <a:ea typeface="Liter" panose="02000503030000020004" pitchFamily="34" charset="0"/>
                        <a:cs typeface="Liter" panose="02000503030000020004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1A"/>
                          </a:solidFill>
                          <a:latin typeface="Liter" panose="02000503030000020004" pitchFamily="3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Bitwise AND, store in Rd, update PSR</a:t>
                      </a:r>
                      <a:endParaRPr lang="en-US" sz="1600" dirty="0">
                        <a:latin typeface="Liter" panose="02000503030000020004" pitchFamily="34" charset="0"/>
                        <a:ea typeface="Liter" panose="02000503030000020004" pitchFamily="34" charset="0"/>
                        <a:cs typeface="Liter" panose="02000503030000020004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3389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1A"/>
                          </a:solidFill>
                          <a:latin typeface="Liter" panose="02000503030000020004" pitchFamily="3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LOAD</a:t>
                      </a:r>
                      <a:endParaRPr lang="en-US" sz="1600" dirty="0">
                        <a:latin typeface="Liter" panose="02000503030000020004" pitchFamily="34" charset="0"/>
                        <a:ea typeface="Liter" panose="02000503030000020004" pitchFamily="34" charset="0"/>
                        <a:cs typeface="Liter" panose="02000503030000020004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1A"/>
                          </a:solidFill>
                          <a:latin typeface="Liter" panose="02000503030000020004" pitchFamily="3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5xxx</a:t>
                      </a:r>
                      <a:endParaRPr lang="en-US" sz="1600" dirty="0">
                        <a:latin typeface="Liter" panose="02000503030000020004" pitchFamily="34" charset="0"/>
                        <a:ea typeface="Liter" panose="02000503030000020004" pitchFamily="34" charset="0"/>
                        <a:cs typeface="Liter" panose="02000503030000020004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1A"/>
                          </a:solidFill>
                          <a:latin typeface="Liter" panose="02000503030000020004" pitchFamily="3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Bxxx</a:t>
                      </a:r>
                      <a:endParaRPr lang="en-US" sz="1600" dirty="0">
                        <a:latin typeface="Liter" panose="02000503030000020004" pitchFamily="34" charset="0"/>
                        <a:ea typeface="Liter" panose="02000503030000020004" pitchFamily="34" charset="0"/>
                        <a:cs typeface="Liter" panose="02000503030000020004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1A"/>
                          </a:solidFill>
                          <a:latin typeface="Liter" panose="02000503030000020004" pitchFamily="3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Load 24-bit value from memory into Rd</a:t>
                      </a:r>
                      <a:endParaRPr lang="en-US" sz="1600" dirty="0">
                        <a:latin typeface="Liter" panose="02000503030000020004" pitchFamily="34" charset="0"/>
                        <a:ea typeface="Liter" panose="02000503030000020004" pitchFamily="34" charset="0"/>
                        <a:cs typeface="Liter" panose="02000503030000020004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E"/>
                    </a:solidFill>
                  </a:tcPr>
                </a:tc>
              </a:tr>
              <a:tr h="303389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1A"/>
                          </a:solidFill>
                          <a:latin typeface="Liter" panose="02000503030000020004" pitchFamily="3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STORE</a:t>
                      </a:r>
                      <a:endParaRPr lang="en-US" sz="1600" dirty="0">
                        <a:latin typeface="Liter" panose="02000503030000020004" pitchFamily="34" charset="0"/>
                        <a:ea typeface="Liter" panose="02000503030000020004" pitchFamily="34" charset="0"/>
                        <a:cs typeface="Liter" panose="02000503030000020004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1A"/>
                          </a:solidFill>
                          <a:latin typeface="Liter" panose="02000503030000020004" pitchFamily="3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3xxx</a:t>
                      </a:r>
                      <a:endParaRPr lang="en-US" sz="1600" dirty="0">
                        <a:latin typeface="Liter" panose="02000503030000020004" pitchFamily="34" charset="0"/>
                        <a:ea typeface="Liter" panose="02000503030000020004" pitchFamily="34" charset="0"/>
                        <a:cs typeface="Liter" panose="02000503030000020004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1A"/>
                          </a:solidFill>
                          <a:latin typeface="Liter" panose="02000503030000020004" pitchFamily="3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Cxxx</a:t>
                      </a:r>
                      <a:endParaRPr lang="en-US" sz="1600" dirty="0">
                        <a:latin typeface="Liter" panose="02000503030000020004" pitchFamily="34" charset="0"/>
                        <a:ea typeface="Liter" panose="02000503030000020004" pitchFamily="34" charset="0"/>
                        <a:cs typeface="Liter" panose="02000503030000020004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1A"/>
                          </a:solidFill>
                          <a:latin typeface="Liter" panose="02000503030000020004" pitchFamily="3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Store Rd value into memory at address</a:t>
                      </a:r>
                      <a:endParaRPr lang="en-US" sz="1600" dirty="0">
                        <a:latin typeface="Liter" panose="02000503030000020004" pitchFamily="34" charset="0"/>
                        <a:ea typeface="Liter" panose="02000503030000020004" pitchFamily="34" charset="0"/>
                        <a:cs typeface="Liter" panose="02000503030000020004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3389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1A"/>
                          </a:solidFill>
                          <a:latin typeface="Liter" panose="02000503030000020004" pitchFamily="3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OR</a:t>
                      </a:r>
                      <a:endParaRPr lang="en-US" sz="1600" dirty="0">
                        <a:latin typeface="Liter" panose="02000503030000020004" pitchFamily="34" charset="0"/>
                        <a:ea typeface="Liter" panose="02000503030000020004" pitchFamily="34" charset="0"/>
                        <a:cs typeface="Liter" panose="02000503030000020004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1A"/>
                          </a:solidFill>
                          <a:latin typeface="Liter" panose="02000503030000020004" pitchFamily="3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7300</a:t>
                      </a:r>
                      <a:endParaRPr lang="en-US" sz="1600" dirty="0">
                        <a:latin typeface="Liter" panose="02000503030000020004" pitchFamily="34" charset="0"/>
                        <a:ea typeface="Liter" panose="02000503030000020004" pitchFamily="34" charset="0"/>
                        <a:cs typeface="Liter" panose="02000503030000020004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600" dirty="0">
                        <a:latin typeface="Liter" panose="02000503030000020004" pitchFamily="34" charset="0"/>
                        <a:ea typeface="Liter" panose="02000503030000020004" pitchFamily="34" charset="0"/>
                        <a:cs typeface="Liter" panose="02000503030000020004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1A"/>
                          </a:solidFill>
                          <a:latin typeface="Liter" panose="02000503030000020004" pitchFamily="3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Bitwise OR, store in Rd, update PSR</a:t>
                      </a:r>
                      <a:endParaRPr lang="en-US" sz="1600" dirty="0">
                        <a:latin typeface="Liter" panose="02000503030000020004" pitchFamily="34" charset="0"/>
                        <a:ea typeface="Liter" panose="02000503030000020004" pitchFamily="34" charset="0"/>
                        <a:cs typeface="Liter" panose="02000503030000020004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E"/>
                    </a:solidFill>
                  </a:tcPr>
                </a:tc>
              </a:tr>
              <a:tr h="303389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1A"/>
                          </a:solidFill>
                          <a:latin typeface="Liter" panose="02000503030000020004" pitchFamily="3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XOR</a:t>
                      </a:r>
                      <a:endParaRPr lang="en-US" sz="1600" dirty="0">
                        <a:latin typeface="Liter" panose="02000503030000020004" pitchFamily="34" charset="0"/>
                        <a:ea typeface="Liter" panose="02000503030000020004" pitchFamily="34" charset="0"/>
                        <a:cs typeface="Liter" panose="02000503030000020004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1A"/>
                          </a:solidFill>
                          <a:latin typeface="Liter" panose="02000503030000020004" pitchFamily="3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7500</a:t>
                      </a:r>
                      <a:endParaRPr lang="en-US" sz="1600" dirty="0">
                        <a:latin typeface="Liter" panose="02000503030000020004" pitchFamily="34" charset="0"/>
                        <a:ea typeface="Liter" panose="02000503030000020004" pitchFamily="34" charset="0"/>
                        <a:cs typeface="Liter" panose="02000503030000020004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600" dirty="0">
                        <a:latin typeface="Liter" panose="02000503030000020004" pitchFamily="34" charset="0"/>
                        <a:ea typeface="Liter" panose="02000503030000020004" pitchFamily="34" charset="0"/>
                        <a:cs typeface="Liter" panose="02000503030000020004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1A"/>
                          </a:solidFill>
                          <a:latin typeface="Liter" panose="02000503030000020004" pitchFamily="3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Bitwise XOR, store in Rd, update PSR</a:t>
                      </a:r>
                      <a:endParaRPr lang="en-US" sz="1600" dirty="0">
                        <a:latin typeface="Liter" panose="02000503030000020004" pitchFamily="34" charset="0"/>
                        <a:ea typeface="Liter" panose="02000503030000020004" pitchFamily="34" charset="0"/>
                        <a:cs typeface="Liter" panose="02000503030000020004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3389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1A"/>
                          </a:solidFill>
                          <a:latin typeface="Liter" panose="02000503030000020004" pitchFamily="3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NOT</a:t>
                      </a:r>
                      <a:endParaRPr lang="en-US" sz="1600" dirty="0">
                        <a:latin typeface="Liter" panose="02000503030000020004" pitchFamily="34" charset="0"/>
                        <a:ea typeface="Liter" panose="02000503030000020004" pitchFamily="34" charset="0"/>
                        <a:cs typeface="Liter" panose="02000503030000020004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1A"/>
                          </a:solidFill>
                          <a:latin typeface="Liter" panose="02000503030000020004" pitchFamily="3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7200</a:t>
                      </a:r>
                      <a:endParaRPr lang="en-US" sz="1600" dirty="0">
                        <a:latin typeface="Liter" panose="02000503030000020004" pitchFamily="34" charset="0"/>
                        <a:ea typeface="Liter" panose="02000503030000020004" pitchFamily="34" charset="0"/>
                        <a:cs typeface="Liter" panose="02000503030000020004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600" dirty="0">
                        <a:latin typeface="Liter" panose="02000503030000020004" pitchFamily="34" charset="0"/>
                        <a:ea typeface="Liter" panose="02000503030000020004" pitchFamily="34" charset="0"/>
                        <a:cs typeface="Liter" panose="02000503030000020004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1A"/>
                          </a:solidFill>
                          <a:latin typeface="Liter" panose="02000503030000020004" pitchFamily="3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Bitwise complement of Rd, update N,Z</a:t>
                      </a:r>
                      <a:endParaRPr lang="en-US" sz="1600" dirty="0">
                        <a:latin typeface="Liter" panose="02000503030000020004" pitchFamily="34" charset="0"/>
                        <a:ea typeface="Liter" panose="02000503030000020004" pitchFamily="34" charset="0"/>
                        <a:cs typeface="Liter" panose="02000503030000020004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E"/>
                    </a:solidFill>
                  </a:tcPr>
                </a:tc>
              </a:tr>
              <a:tr h="303389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1A"/>
                          </a:solidFill>
                          <a:latin typeface="Liter" panose="02000503030000020004" pitchFamily="3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SHL</a:t>
                      </a:r>
                      <a:endParaRPr lang="en-US" sz="1600" dirty="0">
                        <a:latin typeface="Liter" panose="02000503030000020004" pitchFamily="34" charset="0"/>
                        <a:ea typeface="Liter" panose="02000503030000020004" pitchFamily="34" charset="0"/>
                        <a:cs typeface="Liter" panose="02000503030000020004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1A"/>
                          </a:solidFill>
                          <a:latin typeface="Liter" panose="02000503030000020004" pitchFamily="3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7008</a:t>
                      </a:r>
                      <a:endParaRPr lang="en-US" sz="1600" dirty="0">
                        <a:latin typeface="Liter" panose="02000503030000020004" pitchFamily="34" charset="0"/>
                        <a:ea typeface="Liter" panose="02000503030000020004" pitchFamily="34" charset="0"/>
                        <a:cs typeface="Liter" panose="02000503030000020004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600" dirty="0">
                        <a:latin typeface="Liter" panose="02000503030000020004" pitchFamily="34" charset="0"/>
                        <a:ea typeface="Liter" panose="02000503030000020004" pitchFamily="34" charset="0"/>
                        <a:cs typeface="Liter" panose="02000503030000020004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1A"/>
                          </a:solidFill>
                          <a:latin typeface="Liter" panose="02000503030000020004" pitchFamily="3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Shift left, fill 0, discard MSB</a:t>
                      </a:r>
                      <a:endParaRPr lang="en-US" sz="1600" dirty="0">
                        <a:latin typeface="Liter" panose="02000503030000020004" pitchFamily="34" charset="0"/>
                        <a:ea typeface="Liter" panose="02000503030000020004" pitchFamily="34" charset="0"/>
                        <a:cs typeface="Liter" panose="02000503030000020004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3389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1A"/>
                          </a:solidFill>
                          <a:latin typeface="Liter" panose="02000503030000020004" pitchFamily="3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SHR</a:t>
                      </a:r>
                      <a:endParaRPr lang="en-US" sz="1600" dirty="0">
                        <a:latin typeface="Liter" panose="02000503030000020004" pitchFamily="34" charset="0"/>
                        <a:ea typeface="Liter" panose="02000503030000020004" pitchFamily="34" charset="0"/>
                        <a:cs typeface="Liter" panose="02000503030000020004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1A"/>
                          </a:solidFill>
                          <a:latin typeface="Liter" panose="02000503030000020004" pitchFamily="3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7010</a:t>
                      </a:r>
                      <a:endParaRPr lang="en-US" sz="1600" dirty="0">
                        <a:latin typeface="Liter" panose="02000503030000020004" pitchFamily="34" charset="0"/>
                        <a:ea typeface="Liter" panose="02000503030000020004" pitchFamily="34" charset="0"/>
                        <a:cs typeface="Liter" panose="02000503030000020004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600" dirty="0">
                        <a:latin typeface="Liter" panose="02000503030000020004" pitchFamily="34" charset="0"/>
                        <a:ea typeface="Liter" panose="02000503030000020004" pitchFamily="34" charset="0"/>
                        <a:cs typeface="Liter" panose="02000503030000020004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1A"/>
                          </a:solidFill>
                          <a:latin typeface="Liter" panose="02000503030000020004" pitchFamily="3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Shift right, fill 0, discard LSB</a:t>
                      </a:r>
                      <a:endParaRPr lang="en-US" sz="1600" dirty="0">
                        <a:latin typeface="Liter" panose="02000503030000020004" pitchFamily="34" charset="0"/>
                        <a:ea typeface="Liter" panose="02000503030000020004" pitchFamily="34" charset="0"/>
                        <a:cs typeface="Liter" panose="02000503030000020004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E"/>
                    </a:solidFill>
                  </a:tcPr>
                </a:tc>
              </a:tr>
              <a:tr h="303389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1A"/>
                          </a:solidFill>
                          <a:latin typeface="Liter" panose="02000503030000020004" pitchFamily="3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CIL</a:t>
                      </a:r>
                      <a:endParaRPr lang="en-US" sz="1600" dirty="0">
                        <a:latin typeface="Liter" panose="02000503030000020004" pitchFamily="34" charset="0"/>
                        <a:ea typeface="Liter" panose="02000503030000020004" pitchFamily="34" charset="0"/>
                        <a:cs typeface="Liter" panose="02000503030000020004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1A"/>
                          </a:solidFill>
                          <a:latin typeface="Liter" panose="02000503030000020004" pitchFamily="3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7600</a:t>
                      </a:r>
                      <a:endParaRPr lang="en-US" sz="1600" dirty="0">
                        <a:latin typeface="Liter" panose="02000503030000020004" pitchFamily="34" charset="0"/>
                        <a:ea typeface="Liter" panose="02000503030000020004" pitchFamily="34" charset="0"/>
                        <a:cs typeface="Liter" panose="02000503030000020004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600" dirty="0">
                        <a:latin typeface="Liter" panose="02000503030000020004" pitchFamily="34" charset="0"/>
                        <a:ea typeface="Liter" panose="02000503030000020004" pitchFamily="34" charset="0"/>
                        <a:cs typeface="Liter" panose="02000503030000020004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1A"/>
                          </a:solidFill>
                          <a:latin typeface="Liter" panose="02000503030000020004" pitchFamily="3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Rotate left, MSB wraps to LSB</a:t>
                      </a:r>
                      <a:endParaRPr lang="en-US" sz="1600" dirty="0">
                        <a:latin typeface="Liter" panose="02000503030000020004" pitchFamily="34" charset="0"/>
                        <a:ea typeface="Liter" panose="02000503030000020004" pitchFamily="34" charset="0"/>
                        <a:cs typeface="Liter" panose="02000503030000020004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3389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1A"/>
                          </a:solidFill>
                          <a:latin typeface="Liter" panose="02000503030000020004" pitchFamily="3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CIR</a:t>
                      </a:r>
                      <a:endParaRPr lang="en-US" sz="1600" dirty="0">
                        <a:latin typeface="Liter" panose="02000503030000020004" pitchFamily="34" charset="0"/>
                        <a:ea typeface="Liter" panose="02000503030000020004" pitchFamily="34" charset="0"/>
                        <a:cs typeface="Liter" panose="02000503030000020004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1A"/>
                          </a:solidFill>
                          <a:latin typeface="Liter" panose="02000503030000020004" pitchFamily="3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7680</a:t>
                      </a:r>
                      <a:endParaRPr lang="en-US" sz="1600" dirty="0">
                        <a:latin typeface="Liter" panose="02000503030000020004" pitchFamily="34" charset="0"/>
                        <a:ea typeface="Liter" panose="02000503030000020004" pitchFamily="34" charset="0"/>
                        <a:cs typeface="Liter" panose="02000503030000020004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600" dirty="0">
                        <a:latin typeface="Liter" panose="02000503030000020004" pitchFamily="34" charset="0"/>
                        <a:ea typeface="Liter" panose="02000503030000020004" pitchFamily="34" charset="0"/>
                        <a:cs typeface="Liter" panose="02000503030000020004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1A"/>
                          </a:solidFill>
                          <a:latin typeface="Liter" panose="02000503030000020004" pitchFamily="3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Rotate right, LSB wraps to MSB</a:t>
                      </a:r>
                      <a:endParaRPr lang="en-US" sz="1600" dirty="0">
                        <a:latin typeface="Liter" panose="02000503030000020004" pitchFamily="34" charset="0"/>
                        <a:ea typeface="Liter" panose="02000503030000020004" pitchFamily="34" charset="0"/>
                        <a:cs typeface="Liter" panose="02000503030000020004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E"/>
                    </a:solidFill>
                  </a:tcPr>
                </a:tc>
              </a:tr>
              <a:tr h="303389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1A"/>
                          </a:solidFill>
                          <a:latin typeface="Liter" panose="02000503030000020004" pitchFamily="3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CALL</a:t>
                      </a:r>
                      <a:endParaRPr lang="en-US" sz="1600" dirty="0">
                        <a:latin typeface="Liter" panose="02000503030000020004" pitchFamily="34" charset="0"/>
                        <a:ea typeface="Liter" panose="02000503030000020004" pitchFamily="34" charset="0"/>
                        <a:cs typeface="Liter" panose="02000503030000020004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1A"/>
                          </a:solidFill>
                          <a:latin typeface="Liter" panose="02000503030000020004" pitchFamily="3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7780</a:t>
                      </a:r>
                      <a:endParaRPr lang="en-US" sz="1600" dirty="0">
                        <a:latin typeface="Liter" panose="02000503030000020004" pitchFamily="34" charset="0"/>
                        <a:ea typeface="Liter" panose="02000503030000020004" pitchFamily="34" charset="0"/>
                        <a:cs typeface="Liter" panose="02000503030000020004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600" dirty="0">
                        <a:latin typeface="Liter" panose="02000503030000020004" pitchFamily="34" charset="0"/>
                        <a:ea typeface="Liter" panose="02000503030000020004" pitchFamily="34" charset="0"/>
                        <a:cs typeface="Liter" panose="02000503030000020004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1A"/>
                          </a:solidFill>
                          <a:latin typeface="Liter" panose="02000503030000020004" pitchFamily="3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Subroutine call  via stack</a:t>
                      </a:r>
                      <a:endParaRPr lang="en-US" sz="1600" dirty="0">
                        <a:latin typeface="Liter" panose="02000503030000020004" pitchFamily="34" charset="0"/>
                        <a:ea typeface="Liter" panose="02000503030000020004" pitchFamily="34" charset="0"/>
                        <a:cs typeface="Liter" panose="02000503030000020004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3389"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latin typeface="Liter" panose="02000503030000020004" pitchFamily="34" charset="0"/>
                          <a:ea typeface="Liter" panose="02000503030000020004" pitchFamily="34" charset="0"/>
                          <a:cs typeface="Liter" panose="02000503030000020004" pitchFamily="34" charset="0"/>
                        </a:rPr>
                        <a:t>RET</a:t>
                      </a:r>
                      <a:endParaRPr lang="en-US" sz="1600" dirty="0">
                        <a:latin typeface="Liter" panose="02000503030000020004" pitchFamily="34" charset="0"/>
                        <a:ea typeface="Liter" panose="02000503030000020004" pitchFamily="34" charset="0"/>
                        <a:cs typeface="Liter" panose="02000503030000020004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latin typeface="Liter" panose="02000503030000020004" pitchFamily="34" charset="0"/>
                          <a:ea typeface="Liter" panose="02000503030000020004" pitchFamily="34" charset="0"/>
                          <a:cs typeface="Liter" panose="02000503030000020004" pitchFamily="34" charset="0"/>
                        </a:rPr>
                        <a:t>77C0</a:t>
                      </a:r>
                      <a:endParaRPr lang="en-US" sz="1600" dirty="0">
                        <a:latin typeface="Liter" panose="02000503030000020004" pitchFamily="34" charset="0"/>
                        <a:ea typeface="Liter" panose="02000503030000020004" pitchFamily="34" charset="0"/>
                        <a:cs typeface="Liter" panose="02000503030000020004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600" dirty="0">
                        <a:latin typeface="Liter" panose="02000503030000020004" pitchFamily="34" charset="0"/>
                        <a:ea typeface="Liter" panose="02000503030000020004" pitchFamily="34" charset="0"/>
                        <a:cs typeface="Liter" panose="02000503030000020004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1A"/>
                          </a:solidFill>
                          <a:latin typeface="Liter" panose="02000503030000020004" pitchFamily="3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Return via stack</a:t>
                      </a:r>
                      <a:endParaRPr lang="en-US" sz="1600" dirty="0">
                        <a:latin typeface="Liter" panose="02000503030000020004" pitchFamily="34" charset="0"/>
                        <a:ea typeface="Liter" panose="02000503030000020004" pitchFamily="34" charset="0"/>
                        <a:cs typeface="Liter" panose="02000503030000020004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E"/>
                    </a:solidFill>
                  </a:tcPr>
                </a:tc>
              </a:tr>
              <a:tr h="303389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1A"/>
                          </a:solidFill>
                          <a:latin typeface="Liter" panose="02000503030000020004" pitchFamily="3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JMP/JZ/JN/JC</a:t>
                      </a:r>
                      <a:endParaRPr lang="en-US" sz="1600" dirty="0">
                        <a:latin typeface="Liter" panose="02000503030000020004" pitchFamily="34" charset="0"/>
                        <a:ea typeface="Liter" panose="02000503030000020004" pitchFamily="34" charset="0"/>
                        <a:cs typeface="Liter" panose="02000503030000020004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1A"/>
                          </a:solidFill>
                          <a:latin typeface="Liter" panose="02000503030000020004" pitchFamily="3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7700+</a:t>
                      </a:r>
                      <a:endParaRPr lang="en-US" sz="1600" dirty="0">
                        <a:latin typeface="Liter" panose="02000503030000020004" pitchFamily="34" charset="0"/>
                        <a:ea typeface="Liter" panose="02000503030000020004" pitchFamily="34" charset="0"/>
                        <a:cs typeface="Liter" panose="02000503030000020004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600" dirty="0">
                        <a:latin typeface="Liter" panose="02000503030000020004" pitchFamily="34" charset="0"/>
                        <a:ea typeface="Liter" panose="02000503030000020004" pitchFamily="34" charset="0"/>
                        <a:cs typeface="Liter" panose="02000503030000020004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1A"/>
                          </a:solidFill>
                          <a:latin typeface="Liter" panose="02000503030000020004" pitchFamily="3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Conditional and unconditional branches</a:t>
                      </a:r>
                      <a:endParaRPr lang="en-US" sz="1600" dirty="0">
                        <a:latin typeface="Liter" panose="02000503030000020004" pitchFamily="34" charset="0"/>
                        <a:ea typeface="Liter" panose="02000503030000020004" pitchFamily="34" charset="0"/>
                        <a:cs typeface="Liter" panose="02000503030000020004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3389"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latin typeface="Liter" panose="02000503030000020004" pitchFamily="34" charset="0"/>
                          <a:ea typeface="Liter" panose="02000503030000020004" pitchFamily="34" charset="0"/>
                          <a:cs typeface="Liter" panose="02000503030000020004" pitchFamily="34" charset="0"/>
                        </a:rPr>
                        <a:t>PUSH</a:t>
                      </a:r>
                      <a:endParaRPr lang="en-US" sz="1600" dirty="0">
                        <a:latin typeface="Liter" panose="02000503030000020004" pitchFamily="34" charset="0"/>
                        <a:ea typeface="Liter" panose="02000503030000020004" pitchFamily="34" charset="0"/>
                        <a:cs typeface="Liter" panose="02000503030000020004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latin typeface="Liter" panose="02000503030000020004" pitchFamily="34" charset="0"/>
                          <a:ea typeface="Liter" panose="02000503030000020004" pitchFamily="34" charset="0"/>
                          <a:cs typeface="Liter" panose="02000503030000020004" pitchFamily="34" charset="0"/>
                        </a:rPr>
                        <a:t>7F00</a:t>
                      </a:r>
                      <a:endParaRPr lang="en-US" sz="1600" dirty="0">
                        <a:latin typeface="Liter" panose="02000503030000020004" pitchFamily="34" charset="0"/>
                        <a:ea typeface="Liter" panose="02000503030000020004" pitchFamily="34" charset="0"/>
                        <a:cs typeface="Liter" panose="02000503030000020004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600" dirty="0">
                        <a:latin typeface="Liter" panose="02000503030000020004" pitchFamily="34" charset="0"/>
                        <a:ea typeface="Liter" panose="02000503030000020004" pitchFamily="34" charset="0"/>
                        <a:cs typeface="Liter" panose="02000503030000020004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latin typeface="Liter" panose="02000503030000020004" pitchFamily="34" charset="0"/>
                        </a:rPr>
                        <a:t>Decrement R7, store value of Rd at memory address pointed to by R7 </a:t>
                      </a:r>
                      <a:endParaRPr lang="en-US" sz="1600" dirty="0">
                        <a:latin typeface="Liter" panose="02000503030000020004" pitchFamily="34" charset="0"/>
                        <a:ea typeface="Liter" panose="02000503030000020004" pitchFamily="34" charset="0"/>
                        <a:cs typeface="Liter" panose="02000503030000020004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E"/>
                    </a:solidFill>
                  </a:tcPr>
                </a:tc>
              </a:tr>
              <a:tr h="303389"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latin typeface="Liter" panose="02000503030000020004" pitchFamily="34" charset="0"/>
                          <a:ea typeface="Liter" panose="02000503030000020004" pitchFamily="34" charset="0"/>
                          <a:cs typeface="Liter" panose="02000503030000020004" pitchFamily="34" charset="0"/>
                        </a:rPr>
                        <a:t>POP</a:t>
                      </a:r>
                      <a:endParaRPr lang="en-US" sz="1600" dirty="0">
                        <a:latin typeface="Liter" panose="02000503030000020004" pitchFamily="34" charset="0"/>
                        <a:ea typeface="Liter" panose="02000503030000020004" pitchFamily="34" charset="0"/>
                        <a:cs typeface="Liter" panose="02000503030000020004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latin typeface="Liter" panose="02000503030000020004" pitchFamily="34" charset="0"/>
                          <a:ea typeface="Liter" panose="02000503030000020004" pitchFamily="34" charset="0"/>
                          <a:cs typeface="Liter" panose="02000503030000020004" pitchFamily="34" charset="0"/>
                        </a:rPr>
                        <a:t>7F80</a:t>
                      </a:r>
                      <a:endParaRPr lang="en-US" sz="1600" dirty="0">
                        <a:latin typeface="Liter" panose="02000503030000020004" pitchFamily="34" charset="0"/>
                        <a:ea typeface="Liter" panose="02000503030000020004" pitchFamily="34" charset="0"/>
                        <a:cs typeface="Liter" panose="02000503030000020004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600" dirty="0">
                        <a:latin typeface="Liter" panose="02000503030000020004" pitchFamily="34" charset="0"/>
                        <a:ea typeface="Liter" panose="02000503030000020004" pitchFamily="34" charset="0"/>
                        <a:cs typeface="Liter" panose="02000503030000020004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latin typeface="Liter" panose="02000503030000020004" pitchFamily="34" charset="0"/>
                        </a:rPr>
                        <a:t>Load value from memory address pointed to by R7 into Rd, increment R7 </a:t>
                      </a:r>
                      <a:endParaRPr lang="en-US" sz="1600" dirty="0">
                        <a:latin typeface="Liter" panose="02000503030000020004" pitchFamily="34" charset="0"/>
                        <a:ea typeface="Liter" panose="02000503030000020004" pitchFamily="34" charset="0"/>
                        <a:cs typeface="Liter" panose="02000503030000020004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3389"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latin typeface="Liter" panose="02000503030000020004" pitchFamily="34" charset="0"/>
                          <a:ea typeface="Liter" panose="02000503030000020004" pitchFamily="34" charset="0"/>
                          <a:cs typeface="Liter" panose="02000503030000020004" pitchFamily="34" charset="0"/>
                        </a:rPr>
                        <a:t>HLT</a:t>
                      </a:r>
                      <a:endParaRPr lang="en-US" sz="1600" dirty="0">
                        <a:latin typeface="Liter" panose="02000503030000020004" pitchFamily="34" charset="0"/>
                        <a:ea typeface="Liter" panose="02000503030000020004" pitchFamily="34" charset="0"/>
                        <a:cs typeface="Liter" panose="02000503030000020004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latin typeface="Liter" panose="02000503030000020004" pitchFamily="34" charset="0"/>
                          <a:ea typeface="Liter" panose="02000503030000020004" pitchFamily="34" charset="0"/>
                          <a:cs typeface="Liter" panose="02000503030000020004" pitchFamily="34" charset="0"/>
                        </a:rPr>
                        <a:t>7001</a:t>
                      </a:r>
                      <a:endParaRPr lang="en-US" sz="1600" dirty="0">
                        <a:latin typeface="Liter" panose="02000503030000020004" pitchFamily="34" charset="0"/>
                        <a:ea typeface="Liter" panose="02000503030000020004" pitchFamily="34" charset="0"/>
                        <a:cs typeface="Liter" panose="02000503030000020004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600" dirty="0">
                        <a:latin typeface="Liter" panose="02000503030000020004" pitchFamily="34" charset="0"/>
                        <a:ea typeface="Liter" panose="02000503030000020004" pitchFamily="34" charset="0"/>
                        <a:cs typeface="Liter" panose="02000503030000020004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latin typeface="Liter" panose="02000503030000020004" pitchFamily="34" charset="0"/>
                        </a:rPr>
                        <a:t>Halt processor execution, clear I bit in PSR to disable interrupts</a:t>
                      </a:r>
                      <a:endParaRPr lang="en-US" sz="1600" dirty="0">
                        <a:latin typeface="Liter" panose="02000503030000020004" pitchFamily="34" charset="0"/>
                        <a:ea typeface="Liter" panose="02000503030000020004" pitchFamily="34" charset="0"/>
                        <a:cs typeface="Liter" panose="02000503030000020004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E"/>
                    </a:solidFill>
                  </a:tcPr>
                </a:tc>
              </a:tr>
              <a:tr h="303389"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latin typeface="Liter" panose="02000503030000020004" pitchFamily="34" charset="0"/>
                          <a:ea typeface="Liter" panose="02000503030000020004" pitchFamily="34" charset="0"/>
                          <a:cs typeface="Liter" panose="02000503030000020004" pitchFamily="34" charset="0"/>
                        </a:rPr>
                        <a:t>ION</a:t>
                      </a:r>
                      <a:endParaRPr lang="en-US" sz="1600" dirty="0">
                        <a:latin typeface="Liter" panose="02000503030000020004" pitchFamily="34" charset="0"/>
                        <a:ea typeface="Liter" panose="02000503030000020004" pitchFamily="34" charset="0"/>
                        <a:cs typeface="Liter" panose="02000503030000020004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latin typeface="Liter" panose="02000503030000020004" pitchFamily="34" charset="0"/>
                          <a:ea typeface="Liter" panose="02000503030000020004" pitchFamily="34" charset="0"/>
                          <a:cs typeface="Liter" panose="02000503030000020004" pitchFamily="34" charset="0"/>
                        </a:rPr>
                        <a:t>7040</a:t>
                      </a:r>
                      <a:endParaRPr lang="en-US" sz="1600" dirty="0">
                        <a:latin typeface="Liter" panose="02000503030000020004" pitchFamily="34" charset="0"/>
                        <a:ea typeface="Liter" panose="02000503030000020004" pitchFamily="34" charset="0"/>
                        <a:cs typeface="Liter" panose="02000503030000020004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600" dirty="0">
                        <a:latin typeface="Liter" panose="02000503030000020004" pitchFamily="34" charset="0"/>
                        <a:ea typeface="Liter" panose="02000503030000020004" pitchFamily="34" charset="0"/>
                        <a:cs typeface="Liter" panose="02000503030000020004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latin typeface="Liter" panose="02000503030000020004" pitchFamily="34" charset="0"/>
                        </a:rPr>
                        <a:t>Set PSR[I] to 1, enable interrupts </a:t>
                      </a:r>
                      <a:endParaRPr lang="en-US" sz="1600" dirty="0">
                        <a:latin typeface="Liter" panose="02000503030000020004" pitchFamily="34" charset="0"/>
                        <a:ea typeface="Liter" panose="02000503030000020004" pitchFamily="34" charset="0"/>
                        <a:cs typeface="Liter" panose="02000503030000020004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3389"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latin typeface="Liter" panose="02000503030000020004" pitchFamily="34" charset="0"/>
                          <a:ea typeface="Liter" panose="02000503030000020004" pitchFamily="34" charset="0"/>
                          <a:cs typeface="Liter" panose="02000503030000020004" pitchFamily="34" charset="0"/>
                        </a:rPr>
                        <a:t>IOF</a:t>
                      </a:r>
                      <a:endParaRPr lang="en-US" sz="1600" dirty="0">
                        <a:latin typeface="Liter" panose="02000503030000020004" pitchFamily="34" charset="0"/>
                        <a:ea typeface="Liter" panose="02000503030000020004" pitchFamily="34" charset="0"/>
                        <a:cs typeface="Liter" panose="02000503030000020004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latin typeface="Liter" panose="02000503030000020004" pitchFamily="34" charset="0"/>
                          <a:ea typeface="Liter" panose="02000503030000020004" pitchFamily="34" charset="0"/>
                          <a:cs typeface="Liter" panose="02000503030000020004" pitchFamily="34" charset="0"/>
                        </a:rPr>
                        <a:t>7080</a:t>
                      </a:r>
                      <a:endParaRPr lang="en-US" sz="1600" dirty="0">
                        <a:latin typeface="Liter" panose="02000503030000020004" pitchFamily="34" charset="0"/>
                        <a:ea typeface="Liter" panose="02000503030000020004" pitchFamily="34" charset="0"/>
                        <a:cs typeface="Liter" panose="02000503030000020004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600" dirty="0">
                        <a:latin typeface="Liter" panose="02000503030000020004" pitchFamily="34" charset="0"/>
                        <a:ea typeface="Liter" panose="02000503030000020004" pitchFamily="34" charset="0"/>
                        <a:cs typeface="Liter" panose="02000503030000020004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latin typeface="Liter" panose="02000503030000020004" pitchFamily="34" charset="0"/>
                        </a:rPr>
                        <a:t>Clear PSR[I] to 0, disable interrupts</a:t>
                      </a:r>
                      <a:endParaRPr lang="en-US" sz="1600" dirty="0">
                        <a:latin typeface="Liter" panose="02000503030000020004" pitchFamily="34" charset="0"/>
                        <a:ea typeface="Liter" panose="02000503030000020004" pitchFamily="34" charset="0"/>
                        <a:cs typeface="Liter" panose="02000503030000020004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E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62000" y="8040624"/>
            <a:ext cx="14732000" cy="0"/>
          </a:xfrm>
          <a:prstGeom prst="straightConnector1">
            <a:avLst/>
          </a:prstGeom>
          <a:noFill/>
          <a:ln w="6350">
            <a:solidFill>
              <a:srgbClr val="E8E0D5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2h72ijbqukzmu/mnt/okcomputer/output/24bit-processor/images/1_Close_up_of_a_Microprocessor_on_a.png"/>
          <p:cNvPicPr>
            <a:picLocks noChangeAspect="1"/>
          </p:cNvPicPr>
          <p:nvPr/>
        </p:nvPicPr>
        <p:blipFill>
          <a:blip r:embed="rId1"/>
          <a:srcRect t="9821" b="9821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2A2420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762000" y="762000"/>
            <a:ext cx="38100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kern="0" spc="600" dirty="0">
                <a:solidFill>
                  <a:srgbClr val="C4A87C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CHAPTER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762000" y="1219200"/>
            <a:ext cx="2540000" cy="0"/>
          </a:xfrm>
          <a:prstGeom prst="straightConnector1">
            <a:avLst/>
          </a:prstGeom>
          <a:noFill/>
          <a:ln w="6350">
            <a:solidFill>
              <a:srgbClr val="C4A87C">
                <a:alpha val="50196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762000" y="1651000"/>
            <a:ext cx="6350000" cy="25400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16000" dirty="0">
                <a:solidFill>
                  <a:srgbClr val="C4A87C"/>
                </a:solidFill>
                <a:latin typeface="Oranienbaum" panose="02000506080000020003" pitchFamily="34" charset="0"/>
                <a:ea typeface="Oranienbaum" panose="02000506080000020003" pitchFamily="34" charset="-122"/>
                <a:cs typeface="Oranienbaum" panose="02000506080000020003" pitchFamily="34" charset="-120"/>
              </a:rPr>
              <a:t>03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62000" y="4762500"/>
            <a:ext cx="10160000" cy="2222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25000"/>
              </a:lnSpc>
            </a:pPr>
            <a:r>
              <a:rPr lang="en-US" sz="5200" dirty="0">
                <a:solidFill>
                  <a:srgbClr val="FFFFFF"/>
                </a:solidFill>
                <a:latin typeface="Oranienbaum" panose="02000506080000020003" pitchFamily="34" charset="0"/>
                <a:ea typeface="Oranienbaum" panose="02000506080000020003" pitchFamily="34" charset="-122"/>
                <a:cs typeface="Oranienbaum" panose="02000506080000020003" pitchFamily="34" charset="-120"/>
              </a:rPr>
              <a:t>Bus System &amp; ALU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762000" y="7137400"/>
            <a:ext cx="2540000" cy="0"/>
          </a:xfrm>
          <a:prstGeom prst="straightConnector1">
            <a:avLst/>
          </a:prstGeom>
          <a:noFill/>
          <a:ln w="6350">
            <a:solidFill>
              <a:srgbClr val="FFFFFF">
                <a:alpha val="37647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762000" y="7340600"/>
            <a:ext cx="8890000" cy="635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FFFFFF">
                    <a:alpha val="8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Common bus architecture and the three-unit ALU design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EB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338328"/>
            <a:ext cx="7366000" cy="0"/>
          </a:xfrm>
          <a:prstGeom prst="straightConnector1">
            <a:avLst/>
          </a:prstGeom>
          <a:noFill/>
          <a:ln w="6350">
            <a:solidFill>
              <a:srgbClr val="C4A87C">
                <a:alpha val="37647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62000" y="592328"/>
            <a:ext cx="7366000" cy="889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000" dirty="0">
                <a:solidFill>
                  <a:srgbClr val="1A1A1A"/>
                </a:solidFill>
                <a:latin typeface="Oranienbaum" panose="02000506080000020003" pitchFamily="34" charset="0"/>
                <a:ea typeface="Oranienbaum" panose="02000506080000020003" pitchFamily="34" charset="-122"/>
                <a:cs typeface="Oranienbaum" panose="02000506080000020003" pitchFamily="34" charset="-120"/>
              </a:rPr>
              <a:t>Common Bus System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62000" y="1671828"/>
            <a:ext cx="7366000" cy="317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i="1" dirty="0">
                <a:solidFill>
                  <a:srgbClr val="8B7355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Figure 3 — Tri-state 24-bit bus connecting all major components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62000" y="2133600"/>
            <a:ext cx="7366000" cy="3365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1A1A1A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Tri-state gate buffers control which component drives the bus. Three modes: logic high, logic low, and </a:t>
            </a:r>
            <a:r>
              <a:rPr lang="en-US" sz="1600" b="1" dirty="0">
                <a:solidFill>
                  <a:srgbClr val="1A1A1A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high impedance</a:t>
            </a:r>
            <a:r>
              <a:rPr lang="en-US" sz="1600" dirty="0">
                <a:solidFill>
                  <a:srgbClr val="1A1A1A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 (effectively disconnects the component).</a:t>
            </a:r>
            <a:endParaRPr lang="en-US" sz="1400" dirty="0"/>
          </a:p>
          <a:p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600" dirty="0">
                <a:solidFill>
                  <a:srgbClr val="1A1A1A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Controlled by </a:t>
            </a:r>
            <a:r>
              <a:rPr lang="en-US" sz="1600" b="1" dirty="0">
                <a:solidFill>
                  <a:srgbClr val="1A1A1A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S0, S1, S2</a:t>
            </a:r>
            <a:r>
              <a:rPr lang="en-US" sz="1600" dirty="0">
                <a:solidFill>
                  <a:srgbClr val="1A1A1A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 from the Control Unit. Seven components connected: Memory(7), AR(1), PC(2), R0-R7(3), PSR(5), ALU(6).</a:t>
            </a:r>
            <a:endParaRPr lang="en-US" sz="1400" dirty="0"/>
          </a:p>
          <a:p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600" dirty="0">
                <a:solidFill>
                  <a:srgbClr val="C4A87C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Key design:</a:t>
            </a:r>
            <a:r>
              <a:rPr lang="en-US" sz="1600" dirty="0">
                <a:solidFill>
                  <a:srgbClr val="1A1A1A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 IR bypasses the bus — its fields route directly to CU decoders via dedicated internal lines.</a:t>
            </a:r>
            <a:endParaRPr lang="en-US" sz="14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/>
        </p:nvGraphicFramePr>
        <p:xfrm>
          <a:off x="762000" y="4887467"/>
          <a:ext cx="6908800" cy="4053654"/>
        </p:xfrm>
        <a:graphic>
          <a:graphicData uri="http://schemas.openxmlformats.org/drawingml/2006/table">
            <a:tbl>
              <a:tblPr/>
              <a:tblGrid>
                <a:gridCol w="1036320"/>
                <a:gridCol w="1036320"/>
                <a:gridCol w="1036320"/>
                <a:gridCol w="3799840"/>
              </a:tblGrid>
              <a:tr h="450406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Liter" panose="02000503030000020004" pitchFamily="3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S2</a:t>
                      </a:r>
                      <a:endParaRPr lang="en-US" sz="1600" dirty="0">
                        <a:latin typeface="Liter" panose="02000503030000020004" pitchFamily="34" charset="0"/>
                        <a:ea typeface="Liter" panose="02000503030000020004" pitchFamily="34" charset="0"/>
                        <a:cs typeface="Liter" panose="02000503030000020004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Liter" panose="02000503030000020004" pitchFamily="3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S1</a:t>
                      </a:r>
                      <a:endParaRPr lang="en-US" sz="1600" dirty="0">
                        <a:latin typeface="Liter" panose="02000503030000020004" pitchFamily="34" charset="0"/>
                        <a:ea typeface="Liter" panose="02000503030000020004" pitchFamily="34" charset="0"/>
                        <a:cs typeface="Liter" panose="02000503030000020004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Liter" panose="02000503030000020004" pitchFamily="3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S0</a:t>
                      </a:r>
                      <a:endParaRPr lang="en-US" sz="1600" dirty="0">
                        <a:latin typeface="Liter" panose="02000503030000020004" pitchFamily="34" charset="0"/>
                        <a:ea typeface="Liter" panose="02000503030000020004" pitchFamily="34" charset="0"/>
                        <a:cs typeface="Liter" panose="02000503030000020004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Liter" panose="02000503030000020004" pitchFamily="3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Component Enabled</a:t>
                      </a:r>
                      <a:endParaRPr lang="en-US" sz="1600" dirty="0">
                        <a:latin typeface="Liter" panose="02000503030000020004" pitchFamily="34" charset="0"/>
                        <a:ea typeface="Liter" panose="02000503030000020004" pitchFamily="34" charset="0"/>
                        <a:cs typeface="Liter" panose="02000503030000020004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  <a:tr h="450406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1A"/>
                          </a:solidFill>
                          <a:latin typeface="Liter" panose="02000503030000020004" pitchFamily="3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0</a:t>
                      </a:r>
                      <a:endParaRPr lang="en-US" sz="1600" dirty="0">
                        <a:latin typeface="Liter" panose="02000503030000020004" pitchFamily="34" charset="0"/>
                        <a:ea typeface="Liter" panose="02000503030000020004" pitchFamily="34" charset="0"/>
                        <a:cs typeface="Liter" panose="02000503030000020004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1A"/>
                          </a:solidFill>
                          <a:latin typeface="Liter" panose="02000503030000020004" pitchFamily="3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0</a:t>
                      </a:r>
                      <a:endParaRPr lang="en-US" sz="1600" dirty="0">
                        <a:latin typeface="Liter" panose="02000503030000020004" pitchFamily="34" charset="0"/>
                        <a:ea typeface="Liter" panose="02000503030000020004" pitchFamily="34" charset="0"/>
                        <a:cs typeface="Liter" panose="02000503030000020004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1A"/>
                          </a:solidFill>
                          <a:latin typeface="Liter" panose="02000503030000020004" pitchFamily="34" charset="0"/>
                          <a:ea typeface="Liter" panose="02000503030000020004" pitchFamily="34" charset="0"/>
                          <a:cs typeface="Liter" panose="02000503030000020004" pitchFamily="34" charset="0"/>
                        </a:rPr>
                        <a:t>0</a:t>
                      </a:r>
                      <a:endParaRPr lang="en-US" sz="1600" dirty="0">
                        <a:latin typeface="Liter" panose="02000503030000020004" pitchFamily="34" charset="0"/>
                        <a:ea typeface="Liter" panose="02000503030000020004" pitchFamily="34" charset="0"/>
                        <a:cs typeface="Liter" panose="02000503030000020004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latin typeface="Liter" panose="02000503030000020004" pitchFamily="34" charset="0"/>
                          <a:ea typeface="Liter" panose="02000503030000020004" pitchFamily="34" charset="0"/>
                          <a:cs typeface="Liter" panose="02000503030000020004" pitchFamily="34" charset="0"/>
                        </a:rPr>
                        <a:t>None</a:t>
                      </a:r>
                      <a:endParaRPr lang="en-US" sz="1600" dirty="0">
                        <a:latin typeface="Liter" panose="02000503030000020004" pitchFamily="34" charset="0"/>
                        <a:ea typeface="Liter" panose="02000503030000020004" pitchFamily="34" charset="0"/>
                        <a:cs typeface="Liter" panose="02000503030000020004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0406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1A"/>
                          </a:solidFill>
                          <a:latin typeface="Liter" panose="02000503030000020004" pitchFamily="3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0</a:t>
                      </a:r>
                      <a:endParaRPr lang="en-US" sz="1600" dirty="0">
                        <a:latin typeface="Liter" panose="02000503030000020004" pitchFamily="34" charset="0"/>
                        <a:ea typeface="Liter" panose="02000503030000020004" pitchFamily="34" charset="0"/>
                        <a:cs typeface="Liter" panose="02000503030000020004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1A"/>
                          </a:solidFill>
                          <a:latin typeface="Liter" panose="02000503030000020004" pitchFamily="34" charset="0"/>
                          <a:ea typeface="Liter" panose="02000503030000020004" pitchFamily="34" charset="0"/>
                          <a:cs typeface="Liter" panose="02000503030000020004" pitchFamily="34" charset="0"/>
                        </a:rPr>
                        <a:t>0</a:t>
                      </a:r>
                      <a:endParaRPr lang="en-US" sz="1600" dirty="0">
                        <a:latin typeface="Liter" panose="02000503030000020004" pitchFamily="34" charset="0"/>
                        <a:ea typeface="Liter" panose="02000503030000020004" pitchFamily="34" charset="0"/>
                        <a:cs typeface="Liter" panose="02000503030000020004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1A"/>
                          </a:solidFill>
                          <a:latin typeface="Liter" panose="02000503030000020004" pitchFamily="34" charset="0"/>
                          <a:ea typeface="Liter" panose="02000503030000020004" pitchFamily="34" charset="0"/>
                          <a:cs typeface="Liter" panose="02000503030000020004" pitchFamily="34" charset="0"/>
                        </a:rPr>
                        <a:t>1</a:t>
                      </a:r>
                      <a:endParaRPr lang="en-US" sz="1600" dirty="0">
                        <a:latin typeface="Liter" panose="02000503030000020004" pitchFamily="34" charset="0"/>
                        <a:ea typeface="Liter" panose="02000503030000020004" pitchFamily="34" charset="0"/>
                        <a:cs typeface="Liter" panose="02000503030000020004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1A"/>
                          </a:solidFill>
                          <a:latin typeface="Liter" panose="02000503030000020004" pitchFamily="34" charset="0"/>
                          <a:ea typeface="Liter" panose="02000503030000020004" pitchFamily="34" charset="0"/>
                          <a:cs typeface="Liter" panose="02000503030000020004" pitchFamily="34" charset="0"/>
                        </a:rPr>
                        <a:t>AR(Address Register)</a:t>
                      </a:r>
                      <a:endParaRPr lang="en-US" sz="1600" dirty="0">
                        <a:latin typeface="Liter" panose="02000503030000020004" pitchFamily="34" charset="0"/>
                        <a:ea typeface="Liter" panose="02000503030000020004" pitchFamily="34" charset="0"/>
                        <a:cs typeface="Liter" panose="02000503030000020004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0406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1A"/>
                          </a:solidFill>
                          <a:latin typeface="Liter" panose="02000503030000020004" pitchFamily="34" charset="0"/>
                          <a:ea typeface="Liter" panose="02000503030000020004" pitchFamily="34" charset="0"/>
                          <a:cs typeface="Liter" panose="02000503030000020004" pitchFamily="34" charset="0"/>
                        </a:rPr>
                        <a:t>0</a:t>
                      </a:r>
                      <a:endParaRPr lang="en-US" sz="1600" dirty="0">
                        <a:latin typeface="Liter" panose="02000503030000020004" pitchFamily="34" charset="0"/>
                        <a:ea typeface="Liter" panose="02000503030000020004" pitchFamily="34" charset="0"/>
                        <a:cs typeface="Liter" panose="02000503030000020004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1A"/>
                          </a:solidFill>
                          <a:latin typeface="Liter" panose="02000503030000020004" pitchFamily="34" charset="0"/>
                          <a:ea typeface="Liter" panose="02000503030000020004" pitchFamily="34" charset="-122"/>
                          <a:cs typeface="Liter" panose="02000503030000020004" pitchFamily="34" charset="-120"/>
                        </a:rPr>
                        <a:t>1</a:t>
                      </a:r>
                      <a:endParaRPr lang="en-US" sz="1600" dirty="0">
                        <a:latin typeface="Liter" panose="02000503030000020004" pitchFamily="34" charset="0"/>
                        <a:ea typeface="Liter" panose="02000503030000020004" pitchFamily="34" charset="0"/>
                        <a:cs typeface="Liter" panose="02000503030000020004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1A"/>
                          </a:solidFill>
                          <a:latin typeface="Liter" panose="02000503030000020004" pitchFamily="34" charset="0"/>
                          <a:ea typeface="Liter" panose="02000503030000020004" pitchFamily="34" charset="0"/>
                          <a:cs typeface="Liter" panose="02000503030000020004" pitchFamily="34" charset="0"/>
                        </a:rPr>
                        <a:t>0</a:t>
                      </a:r>
                      <a:endParaRPr lang="en-US" sz="1600" dirty="0">
                        <a:latin typeface="Liter" panose="02000503030000020004" pitchFamily="34" charset="0"/>
                        <a:ea typeface="Liter" panose="02000503030000020004" pitchFamily="34" charset="0"/>
                        <a:cs typeface="Liter" panose="02000503030000020004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A1A"/>
                          </a:solidFill>
                          <a:latin typeface="Liter" panose="02000503030000020004" pitchFamily="34" charset="0"/>
                          <a:ea typeface="Liter" panose="02000503030000020004" pitchFamily="34" charset="0"/>
                          <a:cs typeface="Liter" panose="02000503030000020004" pitchFamily="34" charset="0"/>
                        </a:rPr>
                        <a:t>PC(Program Counter)</a:t>
                      </a:r>
                      <a:endParaRPr lang="en-US" sz="1600" dirty="0">
                        <a:latin typeface="Liter" panose="02000503030000020004" pitchFamily="34" charset="0"/>
                        <a:ea typeface="Liter" panose="02000503030000020004" pitchFamily="34" charset="0"/>
                        <a:cs typeface="Liter" panose="02000503030000020004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0406"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latin typeface="Liter" panose="02000503030000020004" pitchFamily="34" charset="0"/>
                          <a:ea typeface="Liter" panose="02000503030000020004" pitchFamily="34" charset="0"/>
                          <a:cs typeface="Liter" panose="02000503030000020004" pitchFamily="34" charset="0"/>
                        </a:rPr>
                        <a:t>0</a:t>
                      </a:r>
                      <a:endParaRPr lang="en-US" sz="1600" dirty="0">
                        <a:latin typeface="Liter" panose="02000503030000020004" pitchFamily="34" charset="0"/>
                        <a:ea typeface="Liter" panose="02000503030000020004" pitchFamily="34" charset="0"/>
                        <a:cs typeface="Liter" panose="02000503030000020004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latin typeface="Liter" panose="02000503030000020004" pitchFamily="34" charset="0"/>
                          <a:ea typeface="Liter" panose="02000503030000020004" pitchFamily="34" charset="0"/>
                          <a:cs typeface="Liter" panose="02000503030000020004" pitchFamily="34" charset="0"/>
                        </a:rPr>
                        <a:t>1</a:t>
                      </a:r>
                      <a:endParaRPr lang="en-US" sz="1600" dirty="0">
                        <a:latin typeface="Liter" panose="02000503030000020004" pitchFamily="34" charset="0"/>
                        <a:ea typeface="Liter" panose="02000503030000020004" pitchFamily="34" charset="0"/>
                        <a:cs typeface="Liter" panose="02000503030000020004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latin typeface="Liter" panose="02000503030000020004" pitchFamily="34" charset="0"/>
                          <a:ea typeface="Liter" panose="02000503030000020004" pitchFamily="34" charset="0"/>
                          <a:cs typeface="Liter" panose="02000503030000020004" pitchFamily="34" charset="0"/>
                        </a:rPr>
                        <a:t>1</a:t>
                      </a:r>
                      <a:endParaRPr lang="en-US" sz="1600" dirty="0">
                        <a:latin typeface="Liter" panose="02000503030000020004" pitchFamily="34" charset="0"/>
                        <a:ea typeface="Liter" panose="02000503030000020004" pitchFamily="34" charset="0"/>
                        <a:cs typeface="Liter" panose="02000503030000020004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/>
                        <a:t>R0-R7 (Register File)</a:t>
                      </a:r>
                      <a:endParaRPr lang="en-US" sz="1600" dirty="0">
                        <a:latin typeface="Liter" panose="02000503030000020004" pitchFamily="34" charset="0"/>
                        <a:ea typeface="Liter" panose="02000503030000020004" pitchFamily="34" charset="0"/>
                        <a:cs typeface="Liter" panose="02000503030000020004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0406"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latin typeface="Liter" panose="02000503030000020004" pitchFamily="34" charset="0"/>
                          <a:ea typeface="Liter" panose="02000503030000020004" pitchFamily="34" charset="0"/>
                          <a:cs typeface="Liter" panose="02000503030000020004" pitchFamily="34" charset="0"/>
                        </a:rPr>
                        <a:t>1</a:t>
                      </a:r>
                      <a:endParaRPr lang="en-US" sz="1600" dirty="0">
                        <a:latin typeface="Liter" panose="02000503030000020004" pitchFamily="34" charset="0"/>
                        <a:ea typeface="Liter" panose="02000503030000020004" pitchFamily="34" charset="0"/>
                        <a:cs typeface="Liter" panose="02000503030000020004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latin typeface="Liter" panose="02000503030000020004" pitchFamily="34" charset="0"/>
                          <a:ea typeface="Liter" panose="02000503030000020004" pitchFamily="34" charset="0"/>
                          <a:cs typeface="Liter" panose="02000503030000020004" pitchFamily="34" charset="0"/>
                        </a:rPr>
                        <a:t>0</a:t>
                      </a:r>
                      <a:endParaRPr lang="en-US" sz="1600" dirty="0">
                        <a:latin typeface="Liter" panose="02000503030000020004" pitchFamily="34" charset="0"/>
                        <a:ea typeface="Liter" panose="02000503030000020004" pitchFamily="34" charset="0"/>
                        <a:cs typeface="Liter" panose="02000503030000020004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latin typeface="Liter" panose="02000503030000020004" pitchFamily="34" charset="0"/>
                          <a:ea typeface="Liter" panose="02000503030000020004" pitchFamily="34" charset="0"/>
                          <a:cs typeface="Liter" panose="02000503030000020004" pitchFamily="34" charset="0"/>
                        </a:rPr>
                        <a:t>0</a:t>
                      </a:r>
                      <a:endParaRPr lang="en-US" sz="1600" dirty="0">
                        <a:latin typeface="Liter" panose="02000503030000020004" pitchFamily="34" charset="0"/>
                        <a:ea typeface="Liter" panose="02000503030000020004" pitchFamily="34" charset="0"/>
                        <a:cs typeface="Liter" panose="02000503030000020004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latin typeface="Liter" panose="02000503030000020004" pitchFamily="34" charset="0"/>
                        </a:rPr>
                        <a:t>IR (feeds CU directly no bus output)</a:t>
                      </a:r>
                      <a:endParaRPr lang="en-US" sz="1600" dirty="0">
                        <a:latin typeface="Liter" panose="02000503030000020004" pitchFamily="34" charset="0"/>
                        <a:ea typeface="Liter" panose="02000503030000020004" pitchFamily="34" charset="0"/>
                        <a:cs typeface="Liter" panose="02000503030000020004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0406"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latin typeface="Liter" panose="02000503030000020004" pitchFamily="34" charset="0"/>
                          <a:ea typeface="Liter" panose="02000503030000020004" pitchFamily="34" charset="0"/>
                          <a:cs typeface="Liter" panose="02000503030000020004" pitchFamily="34" charset="0"/>
                        </a:rPr>
                        <a:t>1</a:t>
                      </a:r>
                      <a:endParaRPr lang="en-US" sz="1600" dirty="0">
                        <a:latin typeface="Liter" panose="02000503030000020004" pitchFamily="34" charset="0"/>
                        <a:ea typeface="Liter" panose="02000503030000020004" pitchFamily="34" charset="0"/>
                        <a:cs typeface="Liter" panose="02000503030000020004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latin typeface="Liter" panose="02000503030000020004" pitchFamily="34" charset="0"/>
                          <a:ea typeface="Liter" panose="02000503030000020004" pitchFamily="34" charset="0"/>
                          <a:cs typeface="Liter" panose="02000503030000020004" pitchFamily="34" charset="0"/>
                        </a:rPr>
                        <a:t>0</a:t>
                      </a:r>
                      <a:endParaRPr lang="en-US" sz="1600" dirty="0">
                        <a:latin typeface="Liter" panose="02000503030000020004" pitchFamily="34" charset="0"/>
                        <a:ea typeface="Liter" panose="02000503030000020004" pitchFamily="34" charset="0"/>
                        <a:cs typeface="Liter" panose="02000503030000020004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latin typeface="Liter" panose="02000503030000020004" pitchFamily="34" charset="0"/>
                          <a:ea typeface="Liter" panose="02000503030000020004" pitchFamily="34" charset="0"/>
                          <a:cs typeface="Liter" panose="02000503030000020004" pitchFamily="34" charset="0"/>
                        </a:rPr>
                        <a:t>1</a:t>
                      </a:r>
                      <a:endParaRPr lang="en-US" sz="1600" dirty="0">
                        <a:latin typeface="Liter" panose="02000503030000020004" pitchFamily="34" charset="0"/>
                        <a:ea typeface="Liter" panose="02000503030000020004" pitchFamily="34" charset="0"/>
                        <a:cs typeface="Liter" panose="02000503030000020004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latin typeface="Liter" panose="02000503030000020004" pitchFamily="34" charset="0"/>
                        </a:rPr>
                        <a:t>PSR (Process Status Register) </a:t>
                      </a:r>
                      <a:endParaRPr lang="en-US" sz="1600" dirty="0">
                        <a:latin typeface="Liter" panose="02000503030000020004" pitchFamily="34" charset="0"/>
                        <a:ea typeface="Liter" panose="02000503030000020004" pitchFamily="34" charset="0"/>
                        <a:cs typeface="Liter" panose="02000503030000020004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0406"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latin typeface="Liter" panose="02000503030000020004" pitchFamily="34" charset="0"/>
                          <a:ea typeface="Liter" panose="02000503030000020004" pitchFamily="34" charset="0"/>
                          <a:cs typeface="Liter" panose="02000503030000020004" pitchFamily="34" charset="0"/>
                        </a:rPr>
                        <a:t>1</a:t>
                      </a:r>
                      <a:endParaRPr lang="en-US" sz="1600" dirty="0">
                        <a:latin typeface="Liter" panose="02000503030000020004" pitchFamily="34" charset="0"/>
                        <a:ea typeface="Liter" panose="02000503030000020004" pitchFamily="34" charset="0"/>
                        <a:cs typeface="Liter" panose="02000503030000020004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latin typeface="Liter" panose="02000503030000020004" pitchFamily="34" charset="0"/>
                          <a:ea typeface="Liter" panose="02000503030000020004" pitchFamily="34" charset="0"/>
                          <a:cs typeface="Liter" panose="02000503030000020004" pitchFamily="34" charset="0"/>
                        </a:rPr>
                        <a:t>1</a:t>
                      </a:r>
                      <a:endParaRPr lang="en-US" sz="1600" dirty="0">
                        <a:latin typeface="Liter" panose="02000503030000020004" pitchFamily="34" charset="0"/>
                        <a:ea typeface="Liter" panose="02000503030000020004" pitchFamily="34" charset="0"/>
                        <a:cs typeface="Liter" panose="02000503030000020004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latin typeface="Liter" panose="02000503030000020004" pitchFamily="34" charset="0"/>
                          <a:ea typeface="Liter" panose="02000503030000020004" pitchFamily="34" charset="0"/>
                          <a:cs typeface="Liter" panose="02000503030000020004" pitchFamily="34" charset="0"/>
                        </a:rPr>
                        <a:t>0</a:t>
                      </a:r>
                      <a:endParaRPr lang="en-US" sz="1600" dirty="0">
                        <a:latin typeface="Liter" panose="02000503030000020004" pitchFamily="34" charset="0"/>
                        <a:ea typeface="Liter" panose="02000503030000020004" pitchFamily="34" charset="0"/>
                        <a:cs typeface="Liter" panose="02000503030000020004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latin typeface="Liter" panose="02000503030000020004" pitchFamily="34" charset="0"/>
                        </a:rPr>
                        <a:t>ALU output </a:t>
                      </a:r>
                      <a:endParaRPr lang="en-US" sz="1600" dirty="0">
                        <a:latin typeface="Liter" panose="02000503030000020004" pitchFamily="34" charset="0"/>
                        <a:ea typeface="Liter" panose="02000503030000020004" pitchFamily="34" charset="0"/>
                        <a:cs typeface="Liter" panose="02000503030000020004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0406"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latin typeface="Liter" panose="02000503030000020004" pitchFamily="34" charset="0"/>
                          <a:ea typeface="Liter" panose="02000503030000020004" pitchFamily="34" charset="0"/>
                          <a:cs typeface="Liter" panose="02000503030000020004" pitchFamily="34" charset="0"/>
                        </a:rPr>
                        <a:t>1</a:t>
                      </a:r>
                      <a:endParaRPr lang="en-US" sz="1600" dirty="0">
                        <a:latin typeface="Liter" panose="02000503030000020004" pitchFamily="34" charset="0"/>
                        <a:ea typeface="Liter" panose="02000503030000020004" pitchFamily="34" charset="0"/>
                        <a:cs typeface="Liter" panose="02000503030000020004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latin typeface="Liter" panose="02000503030000020004" pitchFamily="34" charset="0"/>
                          <a:ea typeface="Liter" panose="02000503030000020004" pitchFamily="34" charset="0"/>
                          <a:cs typeface="Liter" panose="02000503030000020004" pitchFamily="34" charset="0"/>
                        </a:rPr>
                        <a:t>1</a:t>
                      </a:r>
                      <a:endParaRPr lang="en-US" sz="1600" dirty="0">
                        <a:latin typeface="Liter" panose="02000503030000020004" pitchFamily="34" charset="0"/>
                        <a:ea typeface="Liter" panose="02000503030000020004" pitchFamily="34" charset="0"/>
                        <a:cs typeface="Liter" panose="02000503030000020004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latin typeface="Liter" panose="02000503030000020004" pitchFamily="34" charset="0"/>
                          <a:ea typeface="Liter" panose="02000503030000020004" pitchFamily="34" charset="0"/>
                          <a:cs typeface="Liter" panose="02000503030000020004" pitchFamily="34" charset="0"/>
                        </a:rPr>
                        <a:t>1</a:t>
                      </a:r>
                      <a:endParaRPr lang="en-US" sz="1600" dirty="0">
                        <a:latin typeface="Liter" panose="02000503030000020004" pitchFamily="34" charset="0"/>
                        <a:ea typeface="Liter" panose="02000503030000020004" pitchFamily="34" charset="0"/>
                        <a:cs typeface="Liter" panose="02000503030000020004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latin typeface="Liter" panose="02000503030000020004" pitchFamily="34" charset="0"/>
                          <a:ea typeface="Liter" panose="02000503030000020004" pitchFamily="34" charset="0"/>
                          <a:cs typeface="Liter" panose="02000503030000020004" pitchFamily="34" charset="0"/>
                        </a:rPr>
                        <a:t>Memory output</a:t>
                      </a:r>
                      <a:endParaRPr lang="en-US" sz="1600" dirty="0">
                        <a:latin typeface="Liter" panose="02000503030000020004" pitchFamily="34" charset="0"/>
                        <a:ea typeface="Liter" panose="02000503030000020004" pitchFamily="34" charset="0"/>
                        <a:cs typeface="Liter" panose="02000503030000020004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8" name="Image 0" descr="https://kimi-img.moonshot.cn/pub/slides/okc/2h72ijbqukzmu/mnt/okcomputer/output/24bit-processor/images/word/media/image4.png"/>
          <p:cNvPicPr>
            <a:picLocks noChangeAspect="1"/>
          </p:cNvPicPr>
          <p:nvPr/>
        </p:nvPicPr>
        <p:blipFill>
          <a:blip r:embed="rId1"/>
          <a:srcRect t="-56667" b="-56667"/>
          <a:stretch>
            <a:fillRect/>
          </a:stretch>
        </p:blipFill>
        <p:spPr>
          <a:xfrm>
            <a:off x="8304784" y="0"/>
            <a:ext cx="7620000" cy="91440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EB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1143000"/>
            <a:ext cx="7366000" cy="0"/>
          </a:xfrm>
          <a:prstGeom prst="straightConnector1">
            <a:avLst/>
          </a:prstGeom>
          <a:noFill/>
          <a:ln w="6350">
            <a:solidFill>
              <a:srgbClr val="C4A87C">
                <a:alpha val="37647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62000" y="1397000"/>
            <a:ext cx="7366000" cy="889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000" dirty="0">
                <a:solidFill>
                  <a:srgbClr val="1A1A1A"/>
                </a:solidFill>
                <a:latin typeface="Oranienbaum" panose="02000506080000020003" pitchFamily="34" charset="0"/>
                <a:ea typeface="Oranienbaum" panose="02000506080000020003" pitchFamily="34" charset="-122"/>
                <a:cs typeface="Oranienbaum" panose="02000506080000020003" pitchFamily="34" charset="-120"/>
              </a:rPr>
              <a:t>ALU Design Overview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62000" y="2476500"/>
            <a:ext cx="7366000" cy="317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i="1" dirty="0">
                <a:solidFill>
                  <a:srgbClr val="8B7355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Figures 4-6 — Three parallel functional units with multiplexer selection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62000" y="3048000"/>
            <a:ext cx="7366000" cy="381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A1A1A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The 24-bit ALU accepts two operands: </a:t>
            </a:r>
            <a:r>
              <a:rPr lang="en-US" sz="1800" b="1" dirty="0">
                <a:solidFill>
                  <a:srgbClr val="1A1A1A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Input A</a:t>
            </a:r>
            <a:r>
              <a:rPr lang="en-US" sz="1800" dirty="0">
                <a:solidFill>
                  <a:srgbClr val="1A1A1A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 from Rd and </a:t>
            </a:r>
            <a:r>
              <a:rPr lang="en-US" sz="1800" b="1" dirty="0">
                <a:solidFill>
                  <a:srgbClr val="1A1A1A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Input B</a:t>
            </a:r>
            <a:r>
              <a:rPr lang="en-US" sz="1800" dirty="0">
                <a:solidFill>
                  <a:srgbClr val="1A1A1A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 from Rs. A 4-bit CU signal selects the operation.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800" b="1" dirty="0">
                <a:solidFill>
                  <a:srgbClr val="1A1A1A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Three parallel units: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A1A1A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• </a:t>
            </a:r>
            <a:r>
              <a:rPr lang="en-US" sz="1800" dirty="0">
                <a:solidFill>
                  <a:srgbClr val="C4A87C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Adder-Subtractor</a:t>
            </a:r>
            <a:r>
              <a:rPr lang="en-US" sz="1800" dirty="0">
                <a:solidFill>
                  <a:srgbClr val="1A1A1A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 — ADD, SUB, INC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A1A1A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• </a:t>
            </a:r>
            <a:r>
              <a:rPr lang="en-US" sz="1800" dirty="0">
                <a:solidFill>
                  <a:srgbClr val="C4A87C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Logic Unit</a:t>
            </a:r>
            <a:r>
              <a:rPr lang="en-US" sz="1800" dirty="0">
                <a:solidFill>
                  <a:srgbClr val="1A1A1A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 — AND, OR, XOR, NOT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A1A1A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• </a:t>
            </a:r>
            <a:r>
              <a:rPr lang="en-US" sz="1800" dirty="0">
                <a:solidFill>
                  <a:srgbClr val="C4A87C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Shift Unit</a:t>
            </a:r>
            <a:r>
              <a:rPr lang="en-US" sz="1800" dirty="0">
                <a:solidFill>
                  <a:srgbClr val="1A1A1A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 — CIL, CIR, SHL, SHR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62000" y="8382000"/>
            <a:ext cx="7366000" cy="0"/>
          </a:xfrm>
          <a:prstGeom prst="straightConnector1">
            <a:avLst/>
          </a:prstGeom>
          <a:noFill/>
          <a:ln w="6350">
            <a:solidFill>
              <a:srgbClr val="E8E0D5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https://kimi-img.moonshot.cn/pub/slides/okc/2h72ijbqukzmu/mnt/okcomputer/output/24bit-processor/images/word/media/image5.png"/>
          <p:cNvPicPr>
            <a:picLocks noChangeAspect="1"/>
          </p:cNvPicPr>
          <p:nvPr/>
        </p:nvPicPr>
        <p:blipFill>
          <a:blip r:embed="rId1"/>
          <a:srcRect t="-21122" b="-21122"/>
          <a:stretch>
            <a:fillRect/>
          </a:stretch>
        </p:blipFill>
        <p:spPr>
          <a:xfrm>
            <a:off x="8636000" y="0"/>
            <a:ext cx="7620000" cy="91440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EB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1143000"/>
            <a:ext cx="14732000" cy="0"/>
          </a:xfrm>
          <a:prstGeom prst="straightConnector1">
            <a:avLst/>
          </a:prstGeom>
          <a:noFill/>
          <a:ln w="6350">
            <a:solidFill>
              <a:srgbClr val="C4A87C">
                <a:alpha val="37647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62000" y="1397000"/>
            <a:ext cx="8890000" cy="889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000" dirty="0">
                <a:solidFill>
                  <a:srgbClr val="1A1A1A"/>
                </a:solidFill>
                <a:latin typeface="Oranienbaum" panose="02000506080000020003" pitchFamily="34" charset="0"/>
                <a:ea typeface="Oranienbaum" panose="02000506080000020003" pitchFamily="34" charset="-122"/>
                <a:cs typeface="Oranienbaum" panose="02000506080000020003" pitchFamily="34" charset="-120"/>
              </a:rPr>
              <a:t>ALU Functional Units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62000" y="2413000"/>
            <a:ext cx="8890000" cy="317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i="1" dirty="0">
                <a:solidFill>
                  <a:srgbClr val="8B7355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Figures 7-9 — Adder-Subtractor, Logic Unit, and Shift Unit circuits</a:t>
            </a:r>
            <a:endParaRPr lang="en-US" sz="1600" dirty="0"/>
          </a:p>
        </p:txBody>
      </p:sp>
      <p:pic>
        <p:nvPicPr>
          <p:cNvPr id="5" name="Image 0" descr="https://kimi-img.moonshot.cn/pub/slides/okc/2h72ijbqukzmu/mnt/okcomputer/output/24bit-processor/images/word/media/image7.jpeg"/>
          <p:cNvPicPr>
            <a:picLocks noChangeAspect="1"/>
          </p:cNvPicPr>
          <p:nvPr/>
        </p:nvPicPr>
        <p:blipFill>
          <a:blip r:embed="rId1"/>
          <a:srcRect t="-29189" b="-29189"/>
          <a:stretch>
            <a:fillRect/>
          </a:stretch>
        </p:blipFill>
        <p:spPr>
          <a:xfrm>
            <a:off x="762000" y="2921000"/>
            <a:ext cx="4699000" cy="3556000"/>
          </a:xfrm>
          <a:prstGeom prst="rect">
            <a:avLst/>
          </a:prstGeom>
        </p:spPr>
      </p:pic>
      <p:pic>
        <p:nvPicPr>
          <p:cNvPr id="6" name="Image 1" descr="https://kimi-img.moonshot.cn/pub/slides/okc/2h72ijbqukzmu/mnt/okcomputer/output/24bit-processor/images/word/media/image8.jpeg"/>
          <p:cNvPicPr>
            <a:picLocks noChangeAspect="1"/>
          </p:cNvPicPr>
          <p:nvPr/>
        </p:nvPicPr>
        <p:blipFill>
          <a:blip r:embed="rId2"/>
          <a:srcRect t="-2621" b="-2621"/>
          <a:stretch>
            <a:fillRect/>
          </a:stretch>
        </p:blipFill>
        <p:spPr>
          <a:xfrm>
            <a:off x="5715000" y="2921000"/>
            <a:ext cx="4699000" cy="3556000"/>
          </a:xfrm>
          <a:prstGeom prst="rect">
            <a:avLst/>
          </a:prstGeom>
        </p:spPr>
      </p:pic>
      <p:pic>
        <p:nvPicPr>
          <p:cNvPr id="7" name="Image 2" descr="https://kimi-img.moonshot.cn/pub/slides/okc/2h72ijbqukzmu/mnt/okcomputer/output/24bit-processor/images/word/media/image9.jpeg"/>
          <p:cNvPicPr>
            <a:picLocks noChangeAspect="1"/>
          </p:cNvPicPr>
          <p:nvPr/>
        </p:nvPicPr>
        <p:blipFill>
          <a:blip r:embed="rId3"/>
          <a:srcRect l="-23036" r="-23036"/>
          <a:stretch>
            <a:fillRect/>
          </a:stretch>
        </p:blipFill>
        <p:spPr>
          <a:xfrm>
            <a:off x="10668000" y="2921000"/>
            <a:ext cx="4826000" cy="355600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62000" y="6604000"/>
            <a:ext cx="4699000" cy="762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600" b="1" dirty="0">
                <a:solidFill>
                  <a:srgbClr val="1A1A1A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Adder-Subtractor</a:t>
            </a:r>
            <a:endParaRPr lang="en-US" sz="1600" dirty="0"/>
          </a:p>
          <a:p>
            <a:pPr algn="ctr">
              <a:lnSpc>
                <a:spcPct val="150000"/>
              </a:lnSpc>
            </a:pPr>
            <a:r>
              <a:rPr lang="en-US" sz="1600" dirty="0">
                <a:solidFill>
                  <a:srgbClr val="8B7355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24-bit ripple-carry with C/V flags</a:t>
            </a:r>
            <a:endParaRPr lang="en-US" sz="1600" dirty="0"/>
          </a:p>
        </p:txBody>
      </p:sp>
      <p:sp>
        <p:nvSpPr>
          <p:cNvPr id="9" name="Text 4"/>
          <p:cNvSpPr/>
          <p:nvPr/>
        </p:nvSpPr>
        <p:spPr>
          <a:xfrm>
            <a:off x="5715000" y="6604000"/>
            <a:ext cx="4699000" cy="762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600" b="1" dirty="0">
                <a:solidFill>
                  <a:srgbClr val="1A1A1A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Logic Unit</a:t>
            </a:r>
            <a:endParaRPr lang="en-US" sz="1600" dirty="0"/>
          </a:p>
          <a:p>
            <a:pPr algn="ctr">
              <a:lnSpc>
                <a:spcPct val="150000"/>
              </a:lnSpc>
            </a:pPr>
            <a:r>
              <a:rPr lang="en-US" sz="1600" dirty="0">
                <a:solidFill>
                  <a:srgbClr val="8B7355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24 AND/OR/XOR gates + 24 NOT gates</a:t>
            </a:r>
            <a:endParaRPr lang="en-US" sz="1600" dirty="0"/>
          </a:p>
        </p:txBody>
      </p:sp>
      <p:sp>
        <p:nvSpPr>
          <p:cNvPr id="10" name="Text 5"/>
          <p:cNvSpPr/>
          <p:nvPr/>
        </p:nvSpPr>
        <p:spPr>
          <a:xfrm>
            <a:off x="10668000" y="6604000"/>
            <a:ext cx="4826000" cy="762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600" b="1" dirty="0">
                <a:solidFill>
                  <a:srgbClr val="1A1A1A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Shift Unit</a:t>
            </a:r>
            <a:endParaRPr lang="en-US" sz="1600" dirty="0"/>
          </a:p>
          <a:p>
            <a:pPr algn="ctr">
              <a:lnSpc>
                <a:spcPct val="150000"/>
              </a:lnSpc>
            </a:pPr>
            <a:r>
              <a:rPr lang="en-US" sz="1600" dirty="0">
                <a:solidFill>
                  <a:srgbClr val="8B7355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24 parallel 4x1 MUXes for all shifts</a:t>
            </a:r>
            <a:endParaRPr lang="en-US" sz="1600" dirty="0"/>
          </a:p>
        </p:txBody>
      </p:sp>
      <p:sp>
        <p:nvSpPr>
          <p:cNvPr id="11" name="Shape 6"/>
          <p:cNvSpPr/>
          <p:nvPr/>
        </p:nvSpPr>
        <p:spPr>
          <a:xfrm>
            <a:off x="762000" y="8382000"/>
            <a:ext cx="14732000" cy="0"/>
          </a:xfrm>
          <a:prstGeom prst="straightConnector1">
            <a:avLst/>
          </a:prstGeom>
          <a:noFill/>
          <a:ln w="6350">
            <a:solidFill>
              <a:srgbClr val="E8E0D5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2h72ijbqukzmu/mnt/okcomputer/output/24bit-processor/images/1_Close_up_of_a_Microprocessor_on_a.png"/>
          <p:cNvPicPr>
            <a:picLocks noChangeAspect="1"/>
          </p:cNvPicPr>
          <p:nvPr/>
        </p:nvPicPr>
        <p:blipFill>
          <a:blip r:embed="rId1"/>
          <a:srcRect t="9821" b="9821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2A2420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762000" y="762000"/>
            <a:ext cx="38100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kern="0" spc="600" dirty="0">
                <a:solidFill>
                  <a:srgbClr val="C4A87C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CHAPTER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762000" y="1219200"/>
            <a:ext cx="2540000" cy="0"/>
          </a:xfrm>
          <a:prstGeom prst="straightConnector1">
            <a:avLst/>
          </a:prstGeom>
          <a:noFill/>
          <a:ln w="6350">
            <a:solidFill>
              <a:srgbClr val="C4A87C">
                <a:alpha val="50196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762000" y="1651000"/>
            <a:ext cx="6350000" cy="25400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16000" dirty="0">
                <a:solidFill>
                  <a:srgbClr val="C4A87C"/>
                </a:solidFill>
                <a:latin typeface="Oranienbaum" panose="02000506080000020003" pitchFamily="34" charset="0"/>
                <a:ea typeface="Oranienbaum" panose="02000506080000020003" pitchFamily="34" charset="-122"/>
                <a:cs typeface="Oranienbaum" panose="02000506080000020003" pitchFamily="34" charset="-120"/>
              </a:rPr>
              <a:t>04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62000" y="4762500"/>
            <a:ext cx="10160000" cy="2222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25000"/>
              </a:lnSpc>
            </a:pPr>
            <a:r>
              <a:rPr lang="en-US" sz="5200" dirty="0">
                <a:solidFill>
                  <a:srgbClr val="FFFFFF"/>
                </a:solidFill>
                <a:latin typeface="Oranienbaum" panose="02000506080000020003" pitchFamily="34" charset="0"/>
                <a:ea typeface="Oranienbaum" panose="02000506080000020003" pitchFamily="34" charset="-122"/>
                <a:cs typeface="Oranienbaum" panose="02000506080000020003" pitchFamily="34" charset="-120"/>
              </a:rPr>
              <a:t>Control &amp; Timing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762000" y="7137400"/>
            <a:ext cx="2540000" cy="0"/>
          </a:xfrm>
          <a:prstGeom prst="straightConnector1">
            <a:avLst/>
          </a:prstGeom>
          <a:noFill/>
          <a:ln w="6350">
            <a:solidFill>
              <a:srgbClr val="FFFFFF">
                <a:alpha val="37647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762000" y="7340600"/>
            <a:ext cx="8890000" cy="635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FFFFFF">
                    <a:alpha val="8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Hardwired control unit, timing signals, and instruction execution flow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EB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1143000"/>
            <a:ext cx="7366000" cy="0"/>
          </a:xfrm>
          <a:prstGeom prst="straightConnector1">
            <a:avLst/>
          </a:prstGeom>
          <a:noFill/>
          <a:ln w="6350">
            <a:solidFill>
              <a:srgbClr val="C4A87C">
                <a:alpha val="37647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62000" y="1397000"/>
            <a:ext cx="7366000" cy="889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000" dirty="0">
                <a:solidFill>
                  <a:srgbClr val="1A1A1A"/>
                </a:solidFill>
                <a:latin typeface="Oranienbaum" panose="02000506080000020003" pitchFamily="34" charset="0"/>
                <a:ea typeface="Oranienbaum" panose="02000506080000020003" pitchFamily="34" charset="-122"/>
                <a:cs typeface="Oranienbaum" panose="02000506080000020003" pitchFamily="34" charset="-120"/>
              </a:rPr>
              <a:t>Control Unit Design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62000" y="2476500"/>
            <a:ext cx="7366000" cy="317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i="1" dirty="0">
                <a:solidFill>
                  <a:srgbClr val="8B7355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Figure 10 — Hardwired control unit with 8 subsystems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62000" y="3048000"/>
            <a:ext cx="7366000" cy="4127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1A1A1A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Hardwired architecture</a:t>
            </a:r>
            <a:r>
              <a:rPr lang="en-US" sz="1800" dirty="0">
                <a:solidFill>
                  <a:srgbClr val="1A1A1A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 — control signals generated directly by combinational logic, no microprogram memory lookup. Faster execution, fixed instruction set.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800" b="1" dirty="0">
                <a:solidFill>
                  <a:srgbClr val="1A1A1A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8 Subsystems: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A1A1A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• 4-bit Sequence Counter + 4x16 Timing Decoder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A1A1A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• 5x32 Instruction Decoder (D0-D31)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A1A1A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• 2x4 Mode Decoder + Dual D Flip-Flop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A1A1A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• 3x8 Rd Decoder + 2x4 Rs Decoder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A1A1A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• Combinational Control Logic Gates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62000" y="8382000"/>
            <a:ext cx="7366000" cy="0"/>
          </a:xfrm>
          <a:prstGeom prst="straightConnector1">
            <a:avLst/>
          </a:prstGeom>
          <a:noFill/>
          <a:ln w="6350">
            <a:solidFill>
              <a:srgbClr val="E8E0D5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https://kimi-img.moonshot.cn/pub/slides/okc/2h72ijbqukzmu/mnt/okcomputer/output/24bit-processor/images/word/media/image10.jpeg"/>
          <p:cNvPicPr>
            <a:picLocks noChangeAspect="1"/>
          </p:cNvPicPr>
          <p:nvPr/>
        </p:nvPicPr>
        <p:blipFill>
          <a:blip r:embed="rId1"/>
          <a:srcRect t="-7362" b="-7362"/>
          <a:stretch>
            <a:fillRect/>
          </a:stretch>
        </p:blipFill>
        <p:spPr>
          <a:xfrm>
            <a:off x="8636000" y="0"/>
            <a:ext cx="7620000" cy="91440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EB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1143000"/>
            <a:ext cx="7366000" cy="0"/>
          </a:xfrm>
          <a:prstGeom prst="straightConnector1">
            <a:avLst/>
          </a:prstGeom>
          <a:noFill/>
          <a:ln w="6350">
            <a:solidFill>
              <a:srgbClr val="C4A87C">
                <a:alpha val="37647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62000" y="1397000"/>
            <a:ext cx="7366000" cy="889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000" dirty="0">
                <a:solidFill>
                  <a:srgbClr val="1A1A1A"/>
                </a:solidFill>
                <a:latin typeface="Oranienbaum" panose="02000506080000020003" pitchFamily="34" charset="0"/>
                <a:ea typeface="Oranienbaum" panose="02000506080000020003" pitchFamily="34" charset="-122"/>
                <a:cs typeface="Oranienbaum" panose="02000506080000020003" pitchFamily="34" charset="-120"/>
              </a:rPr>
              <a:t>Timing &amp; Instruction Cycle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62000" y="2476500"/>
            <a:ext cx="7366000" cy="317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i="1" dirty="0">
                <a:solidFill>
                  <a:srgbClr val="8B7355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Figures 11-13 — Timing signals and execution flowcharts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62000" y="3048000"/>
            <a:ext cx="7366000" cy="254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1A1A1A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Fetch (T0-T1):</a:t>
            </a:r>
            <a:r>
              <a:rPr lang="en-US" sz="1800" dirty="0">
                <a:solidFill>
                  <a:srgbClr val="1A1A1A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 AR←PC, then IR←M[AR] and PC←PC+1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800" b="1" dirty="0">
                <a:solidFill>
                  <a:srgbClr val="1A1A1A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Decode (T2):</a:t>
            </a:r>
            <a:r>
              <a:rPr lang="en-US" sz="1800" dirty="0">
                <a:solidFill>
                  <a:srgbClr val="1A1A1A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 All fields decoded simultaneously — opcode→D0-D31, mode→M0-M3, Rd, Rs, address→AR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800" b="1" dirty="0">
                <a:solidFill>
                  <a:srgbClr val="1A1A1A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Execute (T3+):</a:t>
            </a:r>
            <a:r>
              <a:rPr lang="en-US" sz="1800" dirty="0">
                <a:solidFill>
                  <a:srgbClr val="1A1A1A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 Varies by instruction. Register ops finish at T3; memory ops need T4-T5. SC resets to 0 when done.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62000" y="5842000"/>
            <a:ext cx="7366000" cy="1016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i="1" dirty="0">
                <a:solidFill>
                  <a:srgbClr val="8B7355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Timing diagram shows T0-T4 sequential activation. D3 (STORE) remains high from T2 through T4. CLR SC signal resets the counter at execution end.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62000" y="8382000"/>
            <a:ext cx="7366000" cy="0"/>
          </a:xfrm>
          <a:prstGeom prst="straightConnector1">
            <a:avLst/>
          </a:prstGeom>
          <a:noFill/>
          <a:ln w="6350">
            <a:solidFill>
              <a:srgbClr val="E8E0D5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pic>
        <p:nvPicPr>
          <p:cNvPr id="9" name="Image 1" descr="https://kimi-img.moonshot.cn/pub/slides/okc/2h72ijbqukzmu/mnt/okcomputer/output/24bit-processor/images/word/media/image12.jpeg"/>
          <p:cNvPicPr>
            <a:picLocks noChangeAspect="1"/>
          </p:cNvPicPr>
          <p:nvPr/>
        </p:nvPicPr>
        <p:blipFill>
          <a:blip r:embed="rId1"/>
          <a:srcRect l="-16323" r="-16323"/>
          <a:stretch>
            <a:fillRect/>
          </a:stretch>
        </p:blipFill>
        <p:spPr>
          <a:xfrm>
            <a:off x="8636000" y="4572000"/>
            <a:ext cx="7620000" cy="45720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93048" y="864870"/>
            <a:ext cx="6858000" cy="322326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2h72ijbqukzmu/mnt/okcomputer/output/24bit-processor/images/1_Close_up_of_a_Microprocessor_on_a.png"/>
          <p:cNvPicPr>
            <a:picLocks noChangeAspect="1"/>
          </p:cNvPicPr>
          <p:nvPr/>
        </p:nvPicPr>
        <p:blipFill>
          <a:blip r:embed="rId1"/>
          <a:srcRect t="9821" b="9821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2A2420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762000" y="762000"/>
            <a:ext cx="38100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kern="0" spc="600" dirty="0">
                <a:solidFill>
                  <a:srgbClr val="C4A87C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CHAPTER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762000" y="1219200"/>
            <a:ext cx="2540000" cy="0"/>
          </a:xfrm>
          <a:prstGeom prst="straightConnector1">
            <a:avLst/>
          </a:prstGeom>
          <a:noFill/>
          <a:ln w="6350">
            <a:solidFill>
              <a:srgbClr val="C4A87C">
                <a:alpha val="50196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762000" y="1651000"/>
            <a:ext cx="6350000" cy="25400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16000" dirty="0">
                <a:solidFill>
                  <a:srgbClr val="C4A87C"/>
                </a:solidFill>
                <a:latin typeface="Oranienbaum" panose="02000506080000020003" pitchFamily="34" charset="0"/>
                <a:ea typeface="Oranienbaum" panose="02000506080000020003" pitchFamily="34" charset="-122"/>
                <a:cs typeface="Oranienbaum" panose="02000506080000020003" pitchFamily="34" charset="-120"/>
              </a:rPr>
              <a:t>05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62000" y="4762500"/>
            <a:ext cx="10160000" cy="2222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25000"/>
              </a:lnSpc>
            </a:pPr>
            <a:r>
              <a:rPr lang="en-US" sz="5200" dirty="0">
                <a:solidFill>
                  <a:srgbClr val="FFFFFF"/>
                </a:solidFill>
                <a:latin typeface="Oranienbaum" panose="02000506080000020003" pitchFamily="34" charset="0"/>
                <a:ea typeface="Oranienbaum" panose="02000506080000020003" pitchFamily="34" charset="-122"/>
                <a:cs typeface="Oranienbaum" panose="02000506080000020003" pitchFamily="34" charset="-120"/>
              </a:rPr>
              <a:t>I/O &amp; System Integration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762000" y="7137400"/>
            <a:ext cx="2540000" cy="0"/>
          </a:xfrm>
          <a:prstGeom prst="straightConnector1">
            <a:avLst/>
          </a:prstGeom>
          <a:noFill/>
          <a:ln w="6350">
            <a:solidFill>
              <a:srgbClr val="FFFFFF">
                <a:alpha val="37647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762000" y="7340600"/>
            <a:ext cx="8890000" cy="635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FFFFFF">
                    <a:alpha val="8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Input/output handling, interrupts, and complete system description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EB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1143000"/>
            <a:ext cx="7366000" cy="0"/>
          </a:xfrm>
          <a:prstGeom prst="straightConnector1">
            <a:avLst/>
          </a:prstGeom>
          <a:noFill/>
          <a:ln w="6350">
            <a:solidFill>
              <a:srgbClr val="C4A87C">
                <a:alpha val="37647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62000" y="1397000"/>
            <a:ext cx="7366000" cy="889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000" dirty="0">
                <a:solidFill>
                  <a:srgbClr val="1A1A1A"/>
                </a:solidFill>
                <a:latin typeface="Oranienbaum" panose="02000506080000020003" pitchFamily="34" charset="0"/>
                <a:ea typeface="Oranienbaum" panose="02000506080000020003" pitchFamily="34" charset="-122"/>
                <a:cs typeface="Oranienbaum" panose="02000506080000020003" pitchFamily="34" charset="-120"/>
              </a:rPr>
              <a:t>I/O &amp; Interrupt Handling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62000" y="2476500"/>
            <a:ext cx="7366000" cy="317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i="1" dirty="0">
                <a:solidFill>
                  <a:srgbClr val="8B7355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Figures 14-15 — I/O configuration and interrupt cycle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62000" y="3048000"/>
            <a:ext cx="7366000" cy="4254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1A1A1A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Programmed I/O:</a:t>
            </a:r>
            <a:r>
              <a:rPr lang="en-US" sz="1800" dirty="0">
                <a:solidFill>
                  <a:srgbClr val="1A1A1A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 CPU directly controls data transfer. </a:t>
            </a:r>
            <a:r>
              <a:rPr lang="en-US" sz="1800" b="1" dirty="0">
                <a:solidFill>
                  <a:srgbClr val="1A1A1A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IN</a:t>
            </a:r>
            <a:r>
              <a:rPr lang="en-US" sz="1800" dirty="0">
                <a:solidFill>
                  <a:srgbClr val="1A1A1A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 reads 8 bits from input device to Rd[0-7]. </a:t>
            </a:r>
            <a:r>
              <a:rPr lang="en-US" sz="1800" b="1" dirty="0">
                <a:solidFill>
                  <a:srgbClr val="1A1A1A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OUT</a:t>
            </a:r>
            <a:r>
              <a:rPr lang="en-US" sz="1800" dirty="0">
                <a:solidFill>
                  <a:srgbClr val="1A1A1A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 sends Rs[0-7] to output device.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800" b="1" dirty="0">
                <a:solidFill>
                  <a:srgbClr val="1A1A1A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Interrupt-Driven I/O:</a:t>
            </a:r>
            <a:r>
              <a:rPr lang="en-US" sz="1800" dirty="0">
                <a:solidFill>
                  <a:srgbClr val="1A1A1A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 When PSR[I]=1 and a device requests interrupt, the processor completes current instruction, saves state, and jumps to ISR.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800" b="1" dirty="0">
                <a:solidFill>
                  <a:srgbClr val="1A1A1A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Interrupt Cycle (RT0-RT2):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A1A1A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• RT0: AR←R7-1, R7←R7-1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A1A1A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• RT1: M[AR]←PC, PC←0x000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A1A1A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• RT2: PC←PC+1, PSR[I]←0, PSR[M]←1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62000" y="8382000"/>
            <a:ext cx="7366000" cy="0"/>
          </a:xfrm>
          <a:prstGeom prst="straightConnector1">
            <a:avLst/>
          </a:prstGeom>
          <a:noFill/>
          <a:ln w="6350">
            <a:solidFill>
              <a:srgbClr val="E8E0D5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1" descr="https://kimi-img.moonshot.cn/pub/slides/okc/2h72ijbqukzmu/mnt/okcomputer/output/24bit-processor/images/word/media/image15.jpeg"/>
          <p:cNvPicPr>
            <a:picLocks noChangeAspect="1"/>
          </p:cNvPicPr>
          <p:nvPr/>
        </p:nvPicPr>
        <p:blipFill>
          <a:blip r:embed="rId1"/>
          <a:srcRect l="-17579" r="-17579"/>
          <a:stretch>
            <a:fillRect/>
          </a:stretch>
        </p:blipFill>
        <p:spPr>
          <a:xfrm>
            <a:off x="7851140" y="762000"/>
            <a:ext cx="7620000" cy="45720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EB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1143000"/>
            <a:ext cx="14732000" cy="0"/>
          </a:xfrm>
          <a:prstGeom prst="straightConnector1">
            <a:avLst/>
          </a:prstGeom>
          <a:noFill/>
          <a:ln w="6350">
            <a:solidFill>
              <a:srgbClr val="C4A87C">
                <a:alpha val="37647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62000" y="1397000"/>
            <a:ext cx="10160000" cy="889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000" dirty="0">
                <a:solidFill>
                  <a:srgbClr val="1A1A1A"/>
                </a:solidFill>
                <a:latin typeface="Oranienbaum" panose="02000506080000020003" pitchFamily="34" charset="0"/>
                <a:ea typeface="Oranienbaum" panose="02000506080000020003" pitchFamily="34" charset="-122"/>
                <a:cs typeface="Oranienbaum" panose="02000506080000020003" pitchFamily="34" charset="-120"/>
              </a:rPr>
              <a:t>Complete Computer Description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62000" y="2413000"/>
            <a:ext cx="101600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kern="0" spc="200" dirty="0">
                <a:solidFill>
                  <a:srgbClr val="C4A87C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SYSTEM SUMMARY &amp; KEY INNOVATIONS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62000" y="3048000"/>
            <a:ext cx="7112000" cy="508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1A1A1A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Memory Unit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8B7355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4096 x 24-bit unified memory. All access via AR.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1200"/>
              </a:spcBef>
            </a:pPr>
            <a:r>
              <a:rPr lang="en-US" sz="1800" b="1" dirty="0">
                <a:solidFill>
                  <a:srgbClr val="1A1A1A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Register File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8B7355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Eight 24-bit GPRs. R0=ZR, R6=LR, R7=SP@0xFFF.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1200"/>
              </a:spcBef>
            </a:pPr>
            <a:r>
              <a:rPr lang="en-US" sz="1800" b="1" dirty="0">
                <a:solidFill>
                  <a:srgbClr val="1A1A1A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Process Status Register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8B7355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8-bit PSR with Z,N,C,V flags + I interrupt bit..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1200"/>
              </a:spcBef>
            </a:pPr>
            <a:r>
              <a:rPr lang="en-US" sz="1800" b="1" dirty="0">
                <a:solidFill>
                  <a:srgbClr val="1A1A1A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ALU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8B7355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24-bit combinational: Adder, Logic, Shift units in parallel.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382000" y="3048000"/>
            <a:ext cx="7112000" cy="508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1A1A1A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Control Unit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8B7355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Hardwired with 5x32, 2x4, 3x8, 2x4 decoders + 4x16 timing + SC.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1200"/>
              </a:spcBef>
            </a:pPr>
            <a:r>
              <a:rPr lang="en-US" sz="1800" b="1" dirty="0">
                <a:solidFill>
                  <a:srgbClr val="1A1A1A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Common Bus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8B7355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24-bit tri-state bus. IR bypasses bus via dedicated CU lines.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1200"/>
              </a:spcBef>
            </a:pPr>
            <a:r>
              <a:rPr lang="en-US" sz="1800" b="1" dirty="0">
                <a:solidFill>
                  <a:srgbClr val="1A1A1A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I/O System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8B7355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Programmed and interrupt-driven I/O via IN/OUT/ION/IOF.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1200"/>
              </a:spcBef>
            </a:pPr>
            <a:r>
              <a:rPr lang="en-US" sz="1800" b="1" dirty="0">
                <a:solidFill>
                  <a:srgbClr val="1A1A1A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Innovations over Mano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8B7355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8 GPRs vs 1 ACC | Full PSR vs E-FF | 23 instr + CALL/RET/PUSH/POP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62000" y="8382000"/>
            <a:ext cx="14732000" cy="0"/>
          </a:xfrm>
          <a:prstGeom prst="straightConnector1">
            <a:avLst/>
          </a:prstGeom>
          <a:noFill/>
          <a:ln w="6350">
            <a:solidFill>
              <a:srgbClr val="E8E0D5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2A2420"/>
            </a:gs>
            <a:gs pos="100000">
              <a:srgbClr val="1A1A1A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18000" y="2794000"/>
            <a:ext cx="7620000" cy="0"/>
          </a:xfrm>
          <a:prstGeom prst="straightConnector1">
            <a:avLst/>
          </a:prstGeom>
          <a:noFill/>
          <a:ln w="6350">
            <a:solidFill>
              <a:srgbClr val="C4A87C">
                <a:alpha val="50196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778000" y="3175000"/>
            <a:ext cx="12700000" cy="1270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7200" b="1" kern="0" spc="800" dirty="0">
                <a:solidFill>
                  <a:srgbClr val="FFFFFF"/>
                </a:solidFill>
                <a:latin typeface="Oranienbaum" panose="02000506080000020003" pitchFamily="34" charset="0"/>
                <a:ea typeface="Oranienbaum" panose="02000506080000020003" pitchFamily="34" charset="-122"/>
                <a:cs typeface="Oranienbaum" panose="02000506080000020003" pitchFamily="34" charset="-120"/>
              </a:rPr>
              <a:t>ANY QUESTIONS?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318000" y="4699000"/>
            <a:ext cx="7620000" cy="0"/>
          </a:xfrm>
          <a:prstGeom prst="straightConnector1">
            <a:avLst/>
          </a:prstGeom>
          <a:noFill/>
          <a:ln w="6350">
            <a:solidFill>
              <a:srgbClr val="C4A87C">
                <a:alpha val="50196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048000" y="5080000"/>
            <a:ext cx="10160000" cy="1016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ct val="180000"/>
              </a:lnSpc>
            </a:pPr>
            <a:r>
              <a:rPr lang="en-US" sz="1800" dirty="0">
                <a:solidFill>
                  <a:srgbClr val="FFFFFF">
                    <a:alpha val="66667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Muhammad Shariq Usman (2024465)　|　Sohaib Bin Tausif (2024595)</a:t>
            </a:r>
            <a:endParaRPr lang="en-US" sz="1600" dirty="0"/>
          </a:p>
          <a:p>
            <a:pPr algn="ctr">
              <a:lnSpc>
                <a:spcPct val="180000"/>
              </a:lnSpc>
            </a:pPr>
            <a:r>
              <a:rPr lang="en-US" sz="1800" dirty="0">
                <a:solidFill>
                  <a:srgbClr val="FFFFFF">
                    <a:alpha val="66667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CE222 — Computer Organization &amp; Assembly Language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048000" y="6604000"/>
            <a:ext cx="10160000" cy="444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kern="0" spc="300" dirty="0">
                <a:solidFill>
                  <a:srgbClr val="FFFFFF">
                    <a:alpha val="37647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GHULAM ISHAQ KHAN INSTITUTE OF ENGINEERING SCIENCES AND TECHNOLOGY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62000" y="8636000"/>
            <a:ext cx="14732000" cy="0"/>
          </a:xfrm>
          <a:prstGeom prst="straightConnector1">
            <a:avLst/>
          </a:prstGeom>
          <a:noFill/>
          <a:ln w="6350">
            <a:solidFill>
              <a:srgbClr val="FFFFFF">
                <a:alpha val="18824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7205</Words>
  <Application>WPS Presentation</Application>
  <PresentationFormat>Custom</PresentationFormat>
  <Paragraphs>493</Paragraphs>
  <Slides>20</Slides>
  <Notes>20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33" baseType="lpstr">
      <vt:lpstr>Arial</vt:lpstr>
      <vt:lpstr>SimSun</vt:lpstr>
      <vt:lpstr>Wingdings</vt:lpstr>
      <vt:lpstr>Oranienbaum</vt:lpstr>
      <vt:lpstr>Oranienbaum</vt:lpstr>
      <vt:lpstr>Oranienbaum</vt:lpstr>
      <vt:lpstr>Liter</vt:lpstr>
      <vt:lpstr>Liter</vt:lpstr>
      <vt:lpstr>Liter</vt:lpstr>
      <vt:lpstr>Calibri</vt:lpstr>
      <vt:lpstr>Microsoft YaHei</vt:lpstr>
      <vt:lpstr>Arial Unicode MS</vt:lpstr>
      <vt:lpstr>Custom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Moonshot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24-Bit Multi-Mode Processor</dc:title>
  <dc:creator>Kimi</dc:creator>
  <dc:subject>24-Bit Multi-Mode Processor</dc:subject>
  <cp:lastModifiedBy>shareq Usman</cp:lastModifiedBy>
  <cp:revision>7</cp:revision>
  <dcterms:created xsi:type="dcterms:W3CDTF">2026-04-24T12:57:00Z</dcterms:created>
  <dcterms:modified xsi:type="dcterms:W3CDTF">2026-05-14T11:01:20Z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{"Label":"24-Bit Multi-Mode Processor","ContentProducer":"001191110108MACG2KBH8F10000","ProduceID":"19db1ca5-22d2-8205-8000-000052761cd9","ReservedCode1":"","ContentPropagator":"001191110108MACG2KBH8F20000","PropagateID":"19db1ca5-22d2-8205-8000-000052761cd9","ReservedCode2":""}</vt:lpwstr>
  </property>
  <property fmtid="{D5CDD505-2E9C-101B-9397-08002B2CF9AE}" pid="3" name="KSOProductBuildVer">
    <vt:lpwstr>1033-12.1.0.26372</vt:lpwstr>
  </property>
  <property fmtid="{D5CDD505-2E9C-101B-9397-08002B2CF9AE}" pid="4" name="ICV">
    <vt:lpwstr>95DD8108EEFD47CC847A00C5C467B00E_13</vt:lpwstr>
  </property>
</Properties>
</file>